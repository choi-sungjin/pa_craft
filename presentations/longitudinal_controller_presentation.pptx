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ae669a230b436b" /><Relationship Type="http://schemas.openxmlformats.org/officeDocument/2006/relationships/extended-properties" Target="/docProps/app.xml" Id="Rfc46534fc5ec4a19" /><Relationship Type="http://schemas.openxmlformats.org/officeDocument/2006/relationships/officeDocument" Target="/ppt/presentation.xml" Id="Ref6c3eb847854a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47545d15114e50"/>
  </p:sldMasterIdLst>
  <p:notesMasterIdLst>
    <p:notesMasterId xmlns:r="http://schemas.openxmlformats.org/officeDocument/2006/relationships" r:id="R2c221013a9674e57"/>
  </p:notesMasterIdLst>
  <p:sldIdLst>
    <p:sldId xmlns:r="http://schemas.openxmlformats.org/officeDocument/2006/relationships" id="256" r:id="R55983291847d48a6"/>
    <p:sldId xmlns:r="http://schemas.openxmlformats.org/officeDocument/2006/relationships" id="257" r:id="R97217499eabf427f"/>
    <p:sldId xmlns:r="http://schemas.openxmlformats.org/officeDocument/2006/relationships" id="258" r:id="R6ec360eda1e846af"/>
    <p:sldId xmlns:r="http://schemas.openxmlformats.org/officeDocument/2006/relationships" id="259" r:id="Rd67a08cec24d4a59"/>
    <p:sldId xmlns:r="http://schemas.openxmlformats.org/officeDocument/2006/relationships" id="260" r:id="Rcced276c16db4a1d"/>
    <p:sldId xmlns:r="http://schemas.openxmlformats.org/officeDocument/2006/relationships" id="261" r:id="R7d63e3bd2b0d40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831cbf8bd84f20" /><Relationship Type="http://schemas.openxmlformats.org/officeDocument/2006/relationships/slideMaster" Target="/ppt/slideMasters/slideMaster1.xml" Id="Rcd47545d15114e50" /><Relationship Type="http://schemas.openxmlformats.org/officeDocument/2006/relationships/notesMaster" Target="/ppt/notesMasters/notesMaster1.xml" Id="R2c221013a9674e57" /><Relationship Type="http://schemas.openxmlformats.org/officeDocument/2006/relationships/presProps" Target="/ppt/presProps.xml" Id="Rebb863e097e6480f" /><Relationship Type="http://schemas.openxmlformats.org/officeDocument/2006/relationships/tableStyles" Target="/ppt/tableStyles.xml" Id="R795ee54317fc4040" /><Relationship Type="http://schemas.openxmlformats.org/officeDocument/2006/relationships/slide" Target="/ppt/slides/slide1.xml" Id="R55983291847d48a6" /><Relationship Type="http://schemas.openxmlformats.org/officeDocument/2006/relationships/slide" Target="/ppt/slides/slide2.xml" Id="R97217499eabf427f" /><Relationship Type="http://schemas.openxmlformats.org/officeDocument/2006/relationships/slide" Target="/ppt/slides/slide3.xml" Id="R6ec360eda1e846af" /><Relationship Type="http://schemas.openxmlformats.org/officeDocument/2006/relationships/slide" Target="/ppt/slides/slide4.xml" Id="Rd67a08cec24d4a59" /><Relationship Type="http://schemas.openxmlformats.org/officeDocument/2006/relationships/slide" Target="/ppt/slides/slide5.xml" Id="Rcced276c16db4a1d" /><Relationship Type="http://schemas.openxmlformats.org/officeDocument/2006/relationships/slide" Target="/ppt/slides/slide6.xml" Id="R7d63e3bd2b0d40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8d31c71b2845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ec47f338d547e2" /><Relationship Type="http://schemas.openxmlformats.org/officeDocument/2006/relationships/notesMaster" Target="/ppt/notesMasters/notesMaster1.xml" Id="Re6428936ebfb42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ff2e7576974bcd" /><Relationship Type="http://schemas.openxmlformats.org/officeDocument/2006/relationships/notesMaster" Target="/ppt/notesMasters/notesMaster1.xml" Id="Rf8e0df8ca42e47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930ba083af452f" /><Relationship Type="http://schemas.openxmlformats.org/officeDocument/2006/relationships/notesMaster" Target="/ppt/notesMasters/notesMaster1.xml" Id="R8a0a2cfb577b4e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6fc375497b4761" /><Relationship Type="http://schemas.openxmlformats.org/officeDocument/2006/relationships/notesMaster" Target="/ppt/notesMasters/notesMaster1.xml" Id="R2a25a0171eb647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b73bd8ffc94870" /><Relationship Type="http://schemas.openxmlformats.org/officeDocument/2006/relationships/notesMaster" Target="/ppt/notesMasters/notesMaster1.xml" Id="R524e3e5060354a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a79640359142e6" /><Relationship Type="http://schemas.openxmlformats.org/officeDocument/2006/relationships/notesMaster" Target="/ppt/notesMasters/notesMaster1.xml" Id="R33cd26b6789a42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파일은 직진 성분의 바퀴 속도를 계산한다. 실제 회전 성분은 LateralController가 뒤에서 더한다.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 근거:</a:t>
            </a:r>
          </a:p>
          <a:p xmlns:a="http://schemas.openxmlformats.org/drawingml/2006/main">
            <a:r>
              <a:t>src/craft_control/src/longitudinal_controller.cpp</a:t>
            </a:r>
          </a:p>
          <a:p xmlns:a="http://schemas.openxmlformats.org/drawingml/2006/main">
            <a:r>
              <a:t>src/craft_control/src/control_master.cpp:636-649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입력 target_v_는 목표 차체 선속도다. 출력은 좌우 바퀴의 각속도 배열이다. 이 클래스는 동일한 좌우 값을 만들어 직진 성분만 담당한다. 설정의 기본값은 반지름 0.033m, 최대 차체 속도 0.26m/s다.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 근거:</a:t>
            </a:r>
          </a:p>
          <a:p xmlns:a="http://schemas.openxmlformats.org/drawingml/2006/main">
            <a:r>
              <a:t>src/craft_control/include/craft_control/longitudinal_controller.hpp:9-28</a:t>
            </a:r>
          </a:p>
          <a:p xmlns:a="http://schemas.openxmlformats.org/drawingml/2006/main">
            <a:r>
              <a:t>src/craft_control/config/control.yaml:13-15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std::clamp는 목표 선속도를 -max_v부터 +max_v까지 제한한다. 바퀴 반지름으로 나누면 선속도 m/s가 바퀴 각속도 rad/s로 바뀐다. 목표 1m/s는 기본 최대 속도 0.26m/s로 제한되므로 약 7.88rad/s가 된다. 계산값은 반올림했다.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 근거:</a:t>
            </a:r>
          </a:p>
          <a:p xmlns:a="http://schemas.openxmlformats.org/drawingml/2006/main">
            <a:r>
              <a:t>src/craft_control/src/longitudinal_controller.cpp:29-35</a:t>
            </a:r>
          </a:p>
          <a:p xmlns:a="http://schemas.openxmlformats.org/drawingml/2006/main">
            <a:r>
              <a:t>src/craft_control/config/control.yaml:13-15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is_valid_target는 std::isfinite만 검사한다. set_target 자체에는 검사 코드가 없으므로 ControlMaster가 먼저 유효성을 검사하는 흐름이다. clear_target은 저장값을 0으로 만든다.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 근거:</a:t>
            </a:r>
          </a:p>
          <a:p xmlns:a="http://schemas.openxmlformats.org/drawingml/2006/main">
            <a:r>
              <a:t>src/craft_control/src/longitudinal_controller.cpp:9-35</a:t>
            </a:r>
          </a:p>
          <a:p xmlns:a="http://schemas.openxmlformats.org/drawingml/2006/main">
            <a:r>
              <a:t>src/craft_control/src/control_master.cpp:426-445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LongitudinalController는 최종 바퀴 명령 전체를 혼자 만들지 않는다. ControlMaster가 경로 추종 가능 여부를 확인하고, 직진 성분을 계산한 후 LateralController의 회전 성분을 더한다. 이후 max_wheel_을 넘으면 양쪽을 같은 비율로 줄여 OpenCR에 보낸다.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 근거:</a:t>
            </a:r>
          </a:p>
          <a:p xmlns:a="http://schemas.openxmlformats.org/drawingml/2006/main">
            <a:r>
              <a:t>src/craft_control/src/control_master.cpp:237-239</a:t>
            </a:r>
          </a:p>
          <a:p xmlns:a="http://schemas.openxmlformats.org/drawingml/2006/main">
            <a:r>
              <a:t>src/craft_control/src/control_master.cpp:426-445</a:t>
            </a:r>
          </a:p>
          <a:p xmlns:a="http://schemas.openxmlformats.org/drawingml/2006/main">
            <a:r>
              <a:t>src/craft_control/src/control_master.cpp:636-651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클래스는 목표값 제한과 단위 변환만 수행한다. 가속 램프나 PID는 이 파일에 없다. 코드와 README에 따르면 OpenCR 펌웨어 및 DYNAMIXEL이 속도 추종과 가속 프로파일을 담당한다. 테스트는 목표 1.0m/s를 0.26m/s로 제한하는 경우, 좌우 동일, clear_target 후 0을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 근거:</a:t>
            </a:r>
          </a:p>
          <a:p xmlns:a="http://schemas.openxmlformats.org/drawingml/2006/main">
            <a:r>
              <a:t>src/craft_control/src/longitudinal_controller.cpp:29-35</a:t>
            </a:r>
          </a:p>
          <a:p xmlns:a="http://schemas.openxmlformats.org/drawingml/2006/main">
            <a:r>
              <a:t>src/craft_control/include/craft_control/longitudinal_controller.hpp:1-3</a:t>
            </a:r>
          </a:p>
          <a:p xmlns:a="http://schemas.openxmlformats.org/drawingml/2006/main">
            <a:r>
              <a:t>src/craft_control/src/control_master.cpp:636-651</a:t>
            </a:r>
          </a:p>
          <a:p xmlns:a="http://schemas.openxmlformats.org/drawingml/2006/main">
            <a:r>
              <a:t>src/craft_control/test/test_control_controllers.cpp:300-318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880a93b272446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9d420bf7f447a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22945c488e43a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1b0b0ac8bd46d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6d8562a1ad4da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51fc03c5f440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7359E0F-E8E2-424D-A597-1804E7E3A0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8029833-C89D-4A60-835B-D92A9089C6A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88A6FD8-432B-416E-9E93-3A561BDAA7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D0EAB3E-2DF3-4A63-9EC7-4C5B62505C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FB01E2F-9B97-4EFE-A7F7-F7670C1CD1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0F8F835-E93E-4CF7-A970-42B67C103E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B9F4B4F-6502-418D-B39B-6C64EB5C93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291699A-E4D5-44FE-A75A-E8EAD0A9CF4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2E4754F-E645-4B36-BA08-77212A0E81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40D7F34-B343-44C0-8A5C-49492713A5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37153d0f914ce4" /><Relationship Type="http://schemas.openxmlformats.org/officeDocument/2006/relationships/slideLayout" Target="/ppt/slideLayouts/slideLayout1.xml" Id="R935dc21582d7481c" /><Relationship Type="http://schemas.openxmlformats.org/officeDocument/2006/relationships/slideLayout" Target="/ppt/slideLayouts/slideLayout2.xml" Id="R8f01477f9f6144e6" /><Relationship Type="http://schemas.openxmlformats.org/officeDocument/2006/relationships/slideLayout" Target="/ppt/slideLayouts/slideLayout3.xml" Id="Rfbbd8f8b83fb44d9" /><Relationship Type="http://schemas.openxmlformats.org/officeDocument/2006/relationships/slideLayout" Target="/ppt/slideLayouts/slideLayout4.xml" Id="R288fbf11a03b4391" /><Relationship Type="http://schemas.openxmlformats.org/officeDocument/2006/relationships/slideLayout" Target="/ppt/slideLayouts/slideLayout5.xml" Id="Rbbfef6e7c2394586" /><Relationship Type="http://schemas.openxmlformats.org/officeDocument/2006/relationships/slideLayout" Target="/ppt/slideLayouts/slideLayout6.xml" Id="R07389d93f91b48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5dc21582d7481c"/>
    <p:sldLayoutId xmlns:r="http://schemas.openxmlformats.org/officeDocument/2006/relationships" id="2147483650" r:id="R8f01477f9f6144e6"/>
    <p:sldLayoutId xmlns:r="http://schemas.openxmlformats.org/officeDocument/2006/relationships" id="2147483651" r:id="Rfbbd8f8b83fb44d9"/>
    <p:sldLayoutId xmlns:r="http://schemas.openxmlformats.org/officeDocument/2006/relationships" id="2147483652" r:id="R288fbf11a03b4391"/>
    <p:sldLayoutId xmlns:r="http://schemas.openxmlformats.org/officeDocument/2006/relationships" id="2147483653" r:id="Rbbfef6e7c2394586"/>
    <p:sldLayoutId xmlns:r="http://schemas.openxmlformats.org/officeDocument/2006/relationships" id="2147483654" r:id="R07389d93f91b48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986af079e949dc" /><Relationship Type="http://schemas.openxmlformats.org/officeDocument/2006/relationships/notesSlide" Target="/ppt/notesSlides/notesSlide1.xml" Id="R207d738ec1bb42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8e8966f4a4453a" /><Relationship Type="http://schemas.openxmlformats.org/officeDocument/2006/relationships/notesSlide" Target="/ppt/notesSlides/notesSlide2.xml" Id="R419768c341ac444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2a8ddfccca40d8" /><Relationship Type="http://schemas.openxmlformats.org/officeDocument/2006/relationships/notesSlide" Target="/ppt/notesSlides/notesSlide3.xml" Id="R21ad26187f194c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31f88495fb40d5" /><Relationship Type="http://schemas.openxmlformats.org/officeDocument/2006/relationships/notesSlide" Target="/ppt/notesSlides/notesSlide4.xml" Id="Ra0ef5f0b4e7b4b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61f86dba2b48d6" /><Relationship Type="http://schemas.openxmlformats.org/officeDocument/2006/relationships/notesSlide" Target="/ppt/notesSlides/notesSlide5.xml" Id="R1e9a7e5da28d45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abe95652db4135" /><Relationship Type="http://schemas.openxmlformats.org/officeDocument/2006/relationships/notesSlide" Target="/ppt/notesSlides/notesSlide6.xml" Id="R4feeeec818644c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7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ED39C4-651B-4916-B0F1-0FB41161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36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36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36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36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36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36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36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36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36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6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longitudinal_controller.cpp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9AD1D5-71F0-4BFA-92AF-D26C2A38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C9E4F2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2175" b="0">
                <a:solidFill>
                  <a:srgbClr val="C9E4F2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2175" b="0">
                <a:solidFill>
                  <a:srgbClr val="C9E4F2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2175" b="0">
                <a:solidFill>
                  <a:srgbClr val="C9E4F2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2175" b="0">
                <a:solidFill>
                  <a:srgbClr val="C9E4F2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2175" b="0">
                <a:solidFill>
                  <a:srgbClr val="C9E4F2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2175" b="0">
                <a:solidFill>
                  <a:srgbClr val="C9E4F2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2175" b="0">
                <a:solidFill>
                  <a:srgbClr val="C9E4F2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2175" b="0">
                <a:solidFill>
                  <a:srgbClr val="C9E4F2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2175" b="0">
                <a:solidFill>
                  <a:srgbClr val="C9E4F2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C9E4F2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C9E4F2"/>
                </a:solidFill>
                <a:latin typeface="Noto Sans CJK KR"/>
                <a:ea typeface="Noto Sans CJK KR"/>
                <a:cs typeface="Noto Sans CJK KR"/>
              </a:rPr>
              <a:t>차체 목표 속도를 좌우 바퀴 각속도로 변환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AB4E6D-7B5A-48DF-B373-AEBAE5F7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24525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9CB8C9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500" b="0">
                <a:solidFill>
                  <a:srgbClr val="9CB8C9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500" b="0">
                <a:solidFill>
                  <a:srgbClr val="9CB8C9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500" b="0">
                <a:solidFill>
                  <a:srgbClr val="9CB8C9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500" b="0">
                <a:solidFill>
                  <a:srgbClr val="9CB8C9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500" b="0">
                <a:solidFill>
                  <a:srgbClr val="9CB8C9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500" b="0">
                <a:solidFill>
                  <a:srgbClr val="9CB8C9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500" b="0">
                <a:solidFill>
                  <a:srgbClr val="9CB8C9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500" b="0">
                <a:solidFill>
                  <a:srgbClr val="9CB8C9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500" b="0">
                <a:solidFill>
                  <a:srgbClr val="9CB8C9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9CB8C9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9CB8C9"/>
                </a:solidFill>
                <a:latin typeface="Noto Sans CJK KR"/>
                <a:ea typeface="Noto Sans CJK KR"/>
                <a:cs typeface="Noto Sans CJK KR"/>
              </a:rPr>
              <a:t>craft_control 코드 발표</a:t>
            </a:r>
          </a:p>
        </p:txBody>
      </p:sp>
    </p:spTree>
    <p:extLst>
      <p:ext uri="{BB962C8B-B14F-4D97-AF65-F5344CB8AC3E}">
        <p14:creationId xmlns:p14="http://schemas.microsoft.com/office/powerpoint/2010/main" val="18090367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95C3A8-1348-4523-8F4C-5EFADD2F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2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2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2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2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2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2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2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2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2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rPr>
              <a:t>01  역할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EBB87F-B254-456B-9839-407AAF62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285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285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285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285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285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285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285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285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285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85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rPr>
              <a:t>입력과 출력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E45A5B-91A1-4182-A4AB-E3A609F6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859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65A3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2175" b="1">
                <a:solidFill>
                  <a:srgbClr val="1765A3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2175" b="1">
                <a:solidFill>
                  <a:srgbClr val="1765A3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2175" b="1">
                <a:solidFill>
                  <a:srgbClr val="1765A3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2175" b="1">
                <a:solidFill>
                  <a:srgbClr val="1765A3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2175" b="1">
                <a:solidFill>
                  <a:srgbClr val="1765A3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2175" b="1">
                <a:solidFill>
                  <a:srgbClr val="1765A3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2175" b="1">
                <a:solidFill>
                  <a:srgbClr val="1765A3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2175" b="1">
                <a:solidFill>
                  <a:srgbClr val="1765A3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2175" b="1">
                <a:solidFill>
                  <a:srgbClr val="1765A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765A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1765A3"/>
                </a:solidFill>
                <a:latin typeface="Noto Sans CJK KR"/>
                <a:ea typeface="Noto Sans CJK KR"/>
                <a:cs typeface="Noto Sans CJK KR"/>
              </a:rPr>
              <a:t>목표 차체 속도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A8B497-EBF5-4233-8302-E0538D17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3907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73A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2025" b="0">
                <a:solidFill>
                  <a:srgbClr val="14273A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2025" b="0">
                <a:solidFill>
                  <a:srgbClr val="14273A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2025" b="0">
                <a:solidFill>
                  <a:srgbClr val="14273A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2025" b="0">
                <a:solidFill>
                  <a:srgbClr val="14273A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2025" b="0">
                <a:solidFill>
                  <a:srgbClr val="14273A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2025" b="0">
                <a:solidFill>
                  <a:srgbClr val="14273A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2025" b="0">
                <a:solidFill>
                  <a:srgbClr val="14273A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2025" b="0">
                <a:solidFill>
                  <a:srgbClr val="14273A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2025" b="0">
                <a:solidFill>
                  <a:srgbClr val="14273A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427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4273A"/>
                </a:solidFill>
                <a:latin typeface="DejaVu Sans Mono"/>
                <a:ea typeface="DejaVu Sans Mono"/>
                <a:cs typeface="DejaVu Sans Mono"/>
              </a:rPr>
              <a:t>target_v  [m/s]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D23087-5292-4D2B-A26B-B055F9FE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886075"/>
            <a:ext cx="4953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650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650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650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650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650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650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650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650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650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rPr>
              <a:t>전진은 양수, 후진은 음수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C7A925-2A82-4EAB-8DA5-669474E1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85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2175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2175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2175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2175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2175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2175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2175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2175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2175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rPr>
              <a:t>좌우 바퀴 각속도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8EBEC1-0F8C-4325-98F8-4239F94A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90775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73A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2025" b="0">
                <a:solidFill>
                  <a:srgbClr val="14273A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2025" b="0">
                <a:solidFill>
                  <a:srgbClr val="14273A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2025" b="0">
                <a:solidFill>
                  <a:srgbClr val="14273A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2025" b="0">
                <a:solidFill>
                  <a:srgbClr val="14273A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2025" b="0">
                <a:solidFill>
                  <a:srgbClr val="14273A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2025" b="0">
                <a:solidFill>
                  <a:srgbClr val="14273A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2025" b="0">
                <a:solidFill>
                  <a:srgbClr val="14273A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2025" b="0">
                <a:solidFill>
                  <a:srgbClr val="14273A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2025" b="0">
                <a:solidFill>
                  <a:srgbClr val="14273A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4273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0">
                <a:solidFill>
                  <a:srgbClr val="14273A"/>
                </a:solidFill>
                <a:latin typeface="DejaVu Sans Mono"/>
                <a:ea typeface="DejaVu Sans Mono"/>
                <a:cs typeface="DejaVu Sans Mono"/>
              </a:rPr>
              <a:t>{left, right}  [rad/s]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6FDFDA-F0F3-4531-9FA9-A5E78511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86075"/>
            <a:ext cx="4953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650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650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650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650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650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650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650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650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650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rPr>
              <a:t>직진 성분이므로 두 값은 같음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C440DF-6F3A-4074-B45A-A64E0DF2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3815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80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80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80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80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80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80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80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80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80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rPr>
              <a:t>설정값: wheel_radius [m], max_v [m/s]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4CC5A5-5FA1-4C26-B5F0-2B8D2C3D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1490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57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57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57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57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57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57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57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57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57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rPr>
              <a:t>configure()가 두 값을 저장하고, compute_command()가 변환에 사용</a:t>
            </a:r>
          </a:p>
        </p:txBody>
      </p:sp>
    </p:spTree>
    <p:extLst>
      <p:ext uri="{BB962C8B-B14F-4D97-AF65-F5344CB8AC3E}">
        <p14:creationId xmlns:p14="http://schemas.microsoft.com/office/powerpoint/2010/main" val="14299586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3DF7AB-5D8C-4F01-85DB-241A10DC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2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2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2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2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2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2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2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2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2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rPr>
              <a:t>02  핵심 계산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5886DF-03ED-4090-BAC0-E84A5A6F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285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285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285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285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285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285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285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285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285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85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rPr>
              <a:t>속도 제한과 단위 변환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13D46A-1C1E-4C54-88CF-0E74ED8A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2100" b="0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2100" b="0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2100" b="0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2100" b="0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2100" b="0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2100" b="0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2100" b="0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2100" b="0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2100" b="0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rPr>
              <a:t>limited_v = clamp(target_v, -max_v, max_v)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6D65CD-7531-4377-82BA-F1CC0223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2100" b="0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2100" b="0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2100" b="0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2100" b="0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2100" b="0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2100" b="0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2100" b="0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2100" b="0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2100" b="0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rPr>
              <a:t>wheel_speed = limited_v / wheel_radius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DE2E97-FFC3-49C5-91A6-DB1DC3A1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2100" b="0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2100" b="0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2100" b="0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2100" b="0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2100" b="0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2100" b="0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2100" b="0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2100" b="0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2100" b="0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rPr>
              <a:t>return {wheel_speed, wheel_speed}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34EE75-1B68-49D6-B788-030FE2E7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8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8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8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8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8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8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8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8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8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rPr>
              <a:t>설정 예시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C1F1C0-48DC-47E1-BBAC-693FF365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29175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80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80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80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80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80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80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80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80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80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rPr>
              <a:t>목표 1.00 m/s → 제한 0.26 m/s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7C904A-E606-4F84-BE18-F07B478A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80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80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80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80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80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80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80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80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80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rPr>
              <a:t>0.26 ÷ 0.033 ≈ 7.88 rad/s  (좌우 동일)</a:t>
            </a:r>
          </a:p>
        </p:txBody>
      </p:sp>
    </p:spTree>
    <p:extLst>
      <p:ext uri="{BB962C8B-B14F-4D97-AF65-F5344CB8AC3E}">
        <p14:creationId xmlns:p14="http://schemas.microsoft.com/office/powerpoint/2010/main" val="17015062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703F6A-4510-428A-B5E6-BB682F50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2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2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2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2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2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2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2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2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2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rPr>
              <a:t>03  코드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CF4E0B-2391-49DD-BD55-923ADD09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285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285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285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285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285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285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285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285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285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85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rPr>
              <a:t>함수별 동작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81B421-AB06-4FF6-A067-170DD62C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57375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650" b="1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650" b="1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650" b="1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650" b="1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650" b="1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650" b="1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650" b="1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650" b="1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650" b="1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1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rPr>
              <a:t>configure(radius, max_v)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CF1BDD-7647-4158-A258-888856BB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1857375"/>
            <a:ext cx="5953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72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72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72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72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72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72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72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72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72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rPr>
              <a:t>바퀴 반지름과 최대 속도를 저장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59C045-54BB-42A9-B907-EC2260DA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38425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650" b="1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650" b="1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650" b="1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650" b="1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650" b="1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650" b="1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650" b="1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650" b="1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650" b="1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1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rPr>
              <a:t>is_valid_target(v)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A0917C-B8B9-4861-9F4C-514942D8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638425"/>
            <a:ext cx="5953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72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72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72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72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72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72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72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72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72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rPr>
              <a:t>NaN·무한대가 아닌 유한한 수인지 확인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B7D0B9-759A-4585-805D-5D3A963D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19475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650" b="1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650" b="1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650" b="1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650" b="1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650" b="1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650" b="1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650" b="1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650" b="1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650" b="1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1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rPr>
              <a:t>set_target(v)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8DAFA3-BB49-49F2-B948-C8D29B5B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419475"/>
            <a:ext cx="5953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72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72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72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72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72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72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72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72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72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rPr>
              <a:t>목표 속도를 저장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E81B39-0A4E-4D1D-A3FF-54610238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00525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650" b="1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650" b="1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650" b="1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650" b="1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650" b="1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650" b="1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650" b="1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650" b="1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650" b="1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1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rPr>
              <a:t>clear_target()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2DE7C9-2755-4569-B6B7-41989BD0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200525"/>
            <a:ext cx="5953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72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72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72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72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72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72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72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72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72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rPr>
              <a:t>목표 속도를 0으로 초기화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500DFF-3A8A-4554-92EB-F01A0FF3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81575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defPPr>
            <a:lvl1pPr algn="l">
              <a:defRPr sz="1650" b="1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1pPr>
            <a:lvl2pPr algn="l">
              <a:defRPr sz="1650" b="1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2pPr>
            <a:lvl3pPr algn="l">
              <a:defRPr sz="1650" b="1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3pPr>
            <a:lvl4pPr algn="l">
              <a:defRPr sz="1650" b="1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4pPr>
            <a:lvl5pPr algn="l">
              <a:defRPr sz="1650" b="1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5pPr>
            <a:lvl6pPr algn="l">
              <a:defRPr sz="1650" b="1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6pPr>
            <a:lvl7pPr algn="l">
              <a:defRPr sz="1650" b="1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7pPr>
            <a:lvl8pPr algn="l">
              <a:defRPr sz="1650" b="1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8pPr>
            <a:lvl9pPr algn="l">
              <a:defRPr sz="1650" b="1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1">
                <a:solidFill>
                  <a:srgbClr val="1765A3"/>
                </a:solidFill>
                <a:latin typeface="DejaVu Sans Mono"/>
                <a:ea typeface="DejaVu Sans Mono"/>
                <a:cs typeface="DejaVu Sans Mono"/>
              </a:rPr>
              <a:t>compute_command()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75B4FC-9C35-4D88-9608-D6C45379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981575"/>
            <a:ext cx="5953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72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72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72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72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72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72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72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72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72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425466"/>
                </a:solidFill>
                <a:latin typeface="Noto Sans CJK KR"/>
                <a:ea typeface="Noto Sans CJK KR"/>
                <a:cs typeface="Noto Sans CJK KR"/>
              </a:rPr>
              <a:t>제한·변환 후 {왼쪽, 오른쪽} 반환</a:t>
            </a:r>
          </a:p>
        </p:txBody>
      </p:sp>
    </p:spTree>
    <p:extLst>
      <p:ext uri="{BB962C8B-B14F-4D97-AF65-F5344CB8AC3E}">
        <p14:creationId xmlns:p14="http://schemas.microsoft.com/office/powerpoint/2010/main" val="20365661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CF3DA3-BD1F-4A5C-B045-1DC62F04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2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2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2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2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2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2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2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2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2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rPr>
              <a:t>04  시스템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4517A6-3740-4384-A597-18B879CB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285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285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285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285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285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285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285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285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285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85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rPr>
              <a:t>ControlMaster와의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0A811A-69E6-4FE5-ABA4-C2BD2D6E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743075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rPr>
              <a:t>1   /planning/target_v에서 목표 선속도 수신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077425-6448-4F5C-ACC3-48EA673F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428875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rPr>
              <a:t>2   유한한 값인지 검사하고 목표값 저장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B05005-D7C5-47A4-AB93-E525F891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114675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rPr>
              <a:t>3   경로를 추종할 수 있으면 set_target(), 아니면 clear_target()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DA83A3-E896-48A6-BE86-AB271814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800475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765A3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650" b="1">
                <a:solidFill>
                  <a:srgbClr val="1765A3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650" b="1">
                <a:solidFill>
                  <a:srgbClr val="1765A3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650" b="1">
                <a:solidFill>
                  <a:srgbClr val="1765A3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650" b="1">
                <a:solidFill>
                  <a:srgbClr val="1765A3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650" b="1">
                <a:solidFill>
                  <a:srgbClr val="1765A3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650" b="1">
                <a:solidFill>
                  <a:srgbClr val="1765A3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650" b="1">
                <a:solidFill>
                  <a:srgbClr val="1765A3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650" b="1">
                <a:solidFill>
                  <a:srgbClr val="1765A3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650" b="1">
                <a:solidFill>
                  <a:srgbClr val="1765A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65A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1765A3"/>
                </a:solidFill>
                <a:latin typeface="Noto Sans CJK KR"/>
                <a:ea typeface="Noto Sans CJK KR"/>
                <a:cs typeface="Noto Sans CJK KR"/>
              </a:rPr>
              <a:t>4   compute_command()로 좌우 직진 성분 계산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A11DFB-6413-4DD7-9F15-3797D071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486275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rPr>
              <a:t>5   LateralController의 회전 성분을 더한 뒤 바퀴 한계 적용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6B4A91-30A8-4EE7-87DB-2E635CCA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172075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rPr>
              <a:t>6   최종 바퀴 명령을 OpenCR로 전송</a:t>
            </a:r>
          </a:p>
        </p:txBody>
      </p:sp>
    </p:spTree>
    <p:extLst>
      <p:ext uri="{BB962C8B-B14F-4D97-AF65-F5344CB8AC3E}">
        <p14:creationId xmlns:p14="http://schemas.microsoft.com/office/powerpoint/2010/main" val="19407295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26E20C-1937-4A9F-8C27-F17B7AF45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2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2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2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2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2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2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2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2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2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rPr>
              <a:t>05  정리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9B418D-80FC-4B80-9373-5741A1A4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285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285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285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285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285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285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285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285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285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850" b="1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rPr>
              <a:t>발표에서 짚을 구현 범위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A0366F-B60F-4EA7-9C5A-507D0A91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765A3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2025" b="1">
                <a:solidFill>
                  <a:srgbClr val="1765A3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2025" b="1">
                <a:solidFill>
                  <a:srgbClr val="1765A3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2025" b="1">
                <a:solidFill>
                  <a:srgbClr val="1765A3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2025" b="1">
                <a:solidFill>
                  <a:srgbClr val="1765A3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2025" b="1">
                <a:solidFill>
                  <a:srgbClr val="1765A3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2025" b="1">
                <a:solidFill>
                  <a:srgbClr val="1765A3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2025" b="1">
                <a:solidFill>
                  <a:srgbClr val="1765A3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2025" b="1">
                <a:solidFill>
                  <a:srgbClr val="1765A3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2025" b="1">
                <a:solidFill>
                  <a:srgbClr val="1765A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65A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1765A3"/>
                </a:solidFill>
                <a:latin typeface="Noto Sans CJK KR"/>
                <a:ea typeface="Noto Sans CJK KR"/>
                <a:cs typeface="Noto Sans CJK KR"/>
              </a:rPr>
              <a:t>직진 성분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C4D4B9-EB9A-41D5-9475-A87EDD02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95525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725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725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725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725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725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725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725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725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725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rPr>
              <a:t>좌우에 같은 속도를 준다. 회전 계산은 별도 컨트롤러가 맡는다.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924771-B7CF-4E56-8E2F-25B2B962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2025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2025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2025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2025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2025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2025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2025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2025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2025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008C86"/>
                </a:solidFill>
                <a:latin typeface="Noto Sans CJK KR"/>
                <a:ea typeface="Noto Sans CJK KR"/>
                <a:cs typeface="Noto Sans CJK KR"/>
              </a:rPr>
              <a:t>정지 조건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EEDD8C-A4D6-4109-80E0-5F0E0E03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rPr>
              <a:t>경로가 유효하지 않거나 목표에 도착하면 ControlMaster가 목표를 0으로 지운다.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A60B50-9BAB-4945-8A1A-439D005D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765A3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2025" b="1">
                <a:solidFill>
                  <a:srgbClr val="1765A3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2025" b="1">
                <a:solidFill>
                  <a:srgbClr val="1765A3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2025" b="1">
                <a:solidFill>
                  <a:srgbClr val="1765A3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2025" b="1">
                <a:solidFill>
                  <a:srgbClr val="1765A3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2025" b="1">
                <a:solidFill>
                  <a:srgbClr val="1765A3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2025" b="1">
                <a:solidFill>
                  <a:srgbClr val="1765A3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2025" b="1">
                <a:solidFill>
                  <a:srgbClr val="1765A3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2025" b="1">
                <a:solidFill>
                  <a:srgbClr val="1765A3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2025" b="1">
                <a:solidFill>
                  <a:srgbClr val="1765A3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65A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1765A3"/>
                </a:solidFill>
                <a:latin typeface="Noto Sans CJK KR"/>
                <a:ea typeface="Noto Sans CJK KR"/>
                <a:cs typeface="Noto Sans CJK KR"/>
              </a:rPr>
              <a:t>모터 제어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33C164-47FC-4415-9532-00D24BCD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577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defPPr>
            <a:lvl1pPr algn="l">
              <a:defRPr sz="1725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1pPr>
            <a:lvl2pPr algn="l">
              <a:defRPr sz="1725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2pPr>
            <a:lvl3pPr algn="l">
              <a:defRPr sz="1725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3pPr>
            <a:lvl4pPr algn="l">
              <a:defRPr sz="1725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4pPr>
            <a:lvl5pPr algn="l">
              <a:defRPr sz="1725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5pPr>
            <a:lvl6pPr algn="l">
              <a:defRPr sz="1725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6pPr>
            <a:lvl7pPr algn="l">
              <a:defRPr sz="1725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7pPr>
            <a:lvl8pPr algn="l">
              <a:defRPr sz="1725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8pPr>
            <a:lvl9pPr algn="l">
              <a:defRPr sz="1725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14273A"/>
                </a:solidFill>
                <a:latin typeface="Noto Sans CJK KR"/>
                <a:ea typeface="Noto Sans CJK KR"/>
                <a:cs typeface="Noto Sans CJK KR"/>
              </a:rPr>
              <a:t>가속 프로파일·속도 PID는 OpenCR과 DYNAMIXEL 쪽 책임이다.</a:t>
            </a:r>
          </a:p>
        </p:txBody>
      </p:sp>
    </p:spTree>
    <p:extLst>
      <p:ext uri="{BB962C8B-B14F-4D97-AF65-F5344CB8AC3E}">
        <p14:creationId xmlns:p14="http://schemas.microsoft.com/office/powerpoint/2010/main" val="7459707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2026-10-18T14:32:16.8880000Z</dcterms:created>
  <dcterms:modified xsi:type="dcterms:W3CDTF">2026-10-18T14:32:16.8880000Z</dcterms:modified>
</coreProperties>
</file>