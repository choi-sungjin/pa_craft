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craft_control 패키지의 GripperController를 소개합니다. 100줄 정도의 작은 클래스지만, 그리퍼를 열고 닫는 목표 각도 계산과, 모터 전류로 물체를 잡았는지 판단하는 파지 감지를 함께 담당합니다.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그리퍼 제어기는 두 갈래 흐름을 가집니다. 왼쪽 명령 경로는 planning이 Bool로 열기/닫기를 보내면 set_target이 목표 각도를 고르고, 제어 루프가 compute_gripper_command로 각도를 계산해 arm OpenCR의 마지막 채널로 보냅니다. 오른쪽 피드백 경로는 OpenCR이 보내는 그리퍼 전류를 누적해서 물체를 잡았는지 판단하고, 그 결과를 /gripper_grasped로 발행합니다. 클래스 자체는 ROS 의존성이 없는 순수 C++이고, 토픽과 시리얼 처리는 모두 control_master가 맡습니다.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공개 메서드는 7개입니다. configure로 한 번 설정하고, set_target으로 목표를 바꾸고, 제어 루프에서 compute_gripper_command, update_current_feedback, is_grasped를 매 주기 호출하는 구조입니다. is_target_reached는 구현돼 있지만 control_master에서는 아직 호출하지 않습니다. 헤더에 include가 하나도 없을 만큼 ROS와 분리돼 있어서 단위 테스트하기 쉽습니다.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configure는 YAML 파라미터 6개를 받아 검증합니다. 모든 값이 유한해야 하고, 최소 각도가 최대 각도보다 작아야 하며, 열기/닫기 각도는 그 범위 안에 있어야 합니다. 흥미로운 규칙은 마지막인데, 전류 임계값과 debounce 시간은 둘 다 0이면 감지 비활성, 둘 다 양수면 활성이고, 한쪽만 설정된 경우는 실수로 보고 거부합니다. 또 검증 전에 configured_ 플래그를 먼저 false로 내려서, 실패했을 때 예전 값으로 계속 동작하는 일이 없습니다. 실패하면 control_master가 예외를 던져 노드가 아예 뜨지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set_target은 Bool 하나를 받아 열기 각도나 닫기 각도 중 하나를 목표로 정합니다. 핵심은 주황색 부분입니다. 처음 목표가 들어오거나 열기에서 닫기처럼 방향이 바뀔 때만 파지 감지 상태를 리셋합니다. 그래서 planning이 같은 닫기 명령을 주기적으로 계속 보내더라도, 이미 잡았다고 판단한 상태가 매번 초기화되지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모터로 보낼 각도를 계산하는 부분입니다. 설정이 안 됐거나 아직 목표가 없으면 현재 측정 각도를 그대로 돌려줍니다. 즉 모르는 상황에서는 그리퍼가 움직이지 않습니다. 목표가 있으면 항상 최소·최대 각도로 clamp해서 범위를 넘는 명령이 나가지 않게 합니다. 오른쪽 is_target_reached는 허용 오차 안에 들어왔는지 판단하는 함수인데, 잘못된 입력은 모두 false로 처리하고, 현재는 제어 루프에서 사용하지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클래스에서 가장 중요한 로직입니다. 그리퍼가 물체를 잡으면 더 닫히지 못하고 모터 전류가 올라갑니다. 그래서 전류 절댓값이 임계값 이상인 시간을 dt씩 누적하고, 누적 시간이 debounce 이상이 되면 잡았다고 판단합니다. 그래프 왼쪽처럼 모터 기동 순간의 짧은 피크는 debounce를 못 넘기 때문에 무시됩니다. 전류가 임계값 아래로 떨어지면 누적 시간과 grasped를 즉시 리셋합니다. 이 감지는 닫는 중이고, 감지가 활성화돼 있고, 입력이 유효할 때만 동작합니다.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control_master에서 어떻게 쓰이는지 보겠습니다. 명령은 구독 콜백에서 들어오는데, gripper_mapping_confirmed 파라미터가 false면 아예 무시합니다. 하드웨어 채널 매핑이 확인되기 전까지 그리퍼가 움직이지 않게 하는 안전장치입니다. 제어 루프는 arm OpenCR 피드백을 읽고, 새 피드백이 있을 때만 전류를 넣어 파지 상태를 갱신해 발행합니다. 마지막으로 그리퍼 목표 각도를 계산해 LM, 관절 4개와 함께 한 줄로 OpenCR에 보냅니다. 그리퍼 제어기는 다른 제어기와 독립적이고, 시리얼 채널만 공유합니다.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현재 설정 상태입니다. 열기·닫기 각도가 둘 다 0이고 매핑 확인 플래그가 false라서, 지금은 그리퍼 명령이 실제로 나가지 않습니다. 전류 감지 파라미터도 0이라 감지가 꺼져 있습니다. 하드웨어 측정 후 값을 채우는 것이 다음 단계입니다. 오른쪽은 코드를 읽으며 확인이 필요하다고 본 부분입니다. 첫째, control_master는 arm 피드백 줄에 정확히 8개 값을 요구하는데, YAML 주석에는 전류 값을 아직 펌웨어에 추가해야 한다는 TODO가 있습니다. 펌웨어가 7개만 보내면 arm 피드백 전체가 버려집니다. 둘째, update_current_feedback에 루프 dt를 넘기는데 호출은 새 피드백이 있을 때만 하므로, 피드백이 띄엄띄엄 오면 누적 시간이 실제보다 짧아집니다. 셋째, 테스트 파일에 그리퍼 테스트가 아직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세 가지입니다. 설정은 시작할 때 엄격하게 검증하고, 모르는 상황에서는 움직이지 않으며, 파지 감지는 순간 피크가 아닌 지속 시간으로 판단합니다. 다음 단계는 하드웨어 측정으로 각도와 전류 임계값을 채우고, 그리퍼 단위 테스트를 추가하는 것입니다.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E2836"/>
                </a:solidFill>
                <a:latin typeface="IBM Plex Sans KR" pitchFamily="34" charset="0"/>
                <a:ea typeface="IBM Plex Sans KR" pitchFamily="34" charset="-122"/>
                <a:cs typeface="IBM Plex Sans K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441"/>
            <a:ext cx="10566400" cy="4170759"/>
          </a:xfrm>
          <a:prstGeom prst="rect">
            <a:avLst/>
          </a:prstGeom>
          <a:noFill/>
          <a:ln/>
        </p:spPr>
        <p:txBody>
          <a:bodyPr wrap="square" lIns="0" tIns="0" rIns="0" bIns="0" rtlCol="0" anchor="t"/>
          <a:lstStyle>
            <a:lvl1pPr algn="l" indent="0" marL="0">
              <a:lnSpc>
                <a:spcPct val="140000"/>
              </a:lnSpc>
              <a:buNone/>
              <a:defRPr lang="en-US" sz="1600" dirty="0">
                <a:solidFill>
                  <a:srgbClr val="1E2836"/>
                </a:solidFill>
                <a:latin typeface="IBM Plex Sans KR" pitchFamily="34" charset="0"/>
                <a:ea typeface="IBM Plex Sans KR" pitchFamily="34" charset="-122"/>
                <a:cs typeface="IBM Plex Sans K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2EC"/>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20"/>
            <a:ext cx="10566400" cy="467320"/>
          </a:xfrm>
          <a:prstGeom prst="rect">
            <a:avLst/>
          </a:prstGeom>
          <a:noFill/>
          <a:ln/>
        </p:spPr>
        <p:txBody>
          <a:bodyPr wrap="square" lIns="0" tIns="0" rIns="0" bIns="0" rtlCol="0" anchor="t"/>
          <a:lstStyle>
            <a:lvl1pPr algn="l" indent="0" marL="0">
              <a:lnSpc>
                <a:spcPct val="115000"/>
              </a:lnSpc>
              <a:buNone/>
              <a:defRPr lang="en-US" sz="3200" dirty="0">
                <a:solidFill>
                  <a:srgbClr val="1E2836"/>
                </a:solidFill>
                <a:latin typeface="IBM Plex Sans KR" pitchFamily="34" charset="0"/>
                <a:ea typeface="IBM Plex Sans KR" pitchFamily="34" charset="-122"/>
                <a:cs typeface="IBM Plex Sans KR"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74441"/>
            <a:ext cx="10566400" cy="4170759"/>
          </a:xfrm>
          <a:prstGeom prst="rect">
            <a:avLst/>
          </a:prstGeom>
          <a:noFill/>
          <a:ln/>
        </p:spPr>
        <p:txBody>
          <a:bodyPr wrap="square" lIns="0" tIns="0" rIns="0" bIns="0" rtlCol="0" anchor="t"/>
          <a:lstStyle>
            <a:lvl1pPr algn="l" indent="0" marL="0">
              <a:lnSpc>
                <a:spcPct val="140000"/>
              </a:lnSpc>
              <a:buNone/>
              <a:defRPr lang="en-US" sz="1600" dirty="0">
                <a:solidFill>
                  <a:srgbClr val="1E2836"/>
                </a:solidFill>
                <a:latin typeface="IBM Plex Sans KR" pitchFamily="34" charset="0"/>
                <a:ea typeface="IBM Plex Sans KR" pitchFamily="34" charset="-122"/>
                <a:cs typeface="IBM Plex Sans K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2392032"/>
            <a:ext cx="10883392" cy="274307"/>
          </a:xfrm>
          <a:prstGeom prst="rect">
            <a:avLst/>
          </a:prstGeom>
          <a:noFill/>
          <a:ln/>
        </p:spPr>
        <p:txBody>
          <a:bodyPr wrap="square" lIns="0" tIns="0" rIns="0" bIns="0" rtlCol="0" anchor="t">
            <a:normAutofit/>
          </a:bodyPr>
          <a:lstStyle/>
          <a:p>
            <a:pPr algn="l" indent="0" marL="0">
              <a:lnSpc>
                <a:spcPts val="1960"/>
              </a:lnSpc>
              <a:buNone/>
            </a:pPr>
            <a:r>
              <a:rPr lang="en-US" sz="1400" b="1" spc="100" kern="0" dirty="0">
                <a:solidFill>
                  <a:srgbClr val="F0A35E"/>
                </a:solidFill>
                <a:latin typeface="IBM Plex Sans KR" pitchFamily="34" charset="0"/>
                <a:ea typeface="IBM Plex Sans KR" pitchFamily="34" charset="-122"/>
                <a:cs typeface="IBM Plex Sans KR" pitchFamily="34" charset="-120"/>
              </a:rPr>
              <a:t>craft_control · 코드 발표</a:t>
            </a:r>
            <a:endParaRPr lang="en-US" sz="1400" dirty="0"/>
          </a:p>
        </p:txBody>
      </p:sp>
      <p:sp>
        <p:nvSpPr>
          <p:cNvPr id="3" name="Text 1"/>
          <p:cNvSpPr/>
          <p:nvPr>
            <p:ph type="title"/>
          </p:nvPr>
        </p:nvSpPr>
        <p:spPr>
          <a:xfrm>
            <a:off x="812800" y="2844139"/>
            <a:ext cx="10883392" cy="863600"/>
          </a:xfrm>
          <a:prstGeom prst="rect">
            <a:avLst/>
          </a:prstGeom>
          <a:noFill/>
          <a:ln/>
        </p:spPr>
        <p:txBody>
          <a:bodyPr wrap="square" lIns="0" tIns="0" rIns="0" bIns="0" rtlCol="0" anchor="t">
            <a:normAutofit/>
          </a:bodyPr>
          <a:lstStyle/>
          <a:p>
            <a:pPr algn="l" indent="0" marL="0">
              <a:lnSpc>
                <a:spcPts val="6600"/>
              </a:lnSpc>
              <a:buNone/>
            </a:pPr>
            <a:r>
              <a:rPr lang="en-US" sz="6000" b="1" i="0" dirty="0">
                <a:solidFill>
                  <a:srgbClr val="F4F2EC"/>
                </a:solidFill>
                <a:latin typeface="JetBrains Mono" pitchFamily="49" charset="0"/>
                <a:ea typeface="JetBrains Mono" pitchFamily="49" charset="-122"/>
                <a:cs typeface="JetBrains Mono" pitchFamily="49" charset="-120"/>
              </a:rPr>
              <a:t>GripperController</a:t>
            </a:r>
            <a:endParaRPr lang="en-US" sz="6000" dirty="0"/>
          </a:p>
        </p:txBody>
      </p:sp>
      <p:sp>
        <p:nvSpPr>
          <p:cNvPr id="4" name="Text 2"/>
          <p:cNvSpPr/>
          <p:nvPr/>
        </p:nvSpPr>
        <p:spPr>
          <a:xfrm>
            <a:off x="812800" y="3885539"/>
            <a:ext cx="9156700" cy="402564"/>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C9D2DE"/>
                </a:solidFill>
                <a:latin typeface="IBM Plex Sans KR" pitchFamily="34" charset="0"/>
                <a:ea typeface="IBM Plex Sans KR" pitchFamily="34" charset="-122"/>
                <a:cs typeface="IBM Plex Sans KR" pitchFamily="34" charset="-120"/>
              </a:rPr>
              <a:t>전류 기반 파지 감지를 갖춘 그리퍼 목표 각도 제어기</a:t>
            </a:r>
            <a:endParaRPr lang="en-US" sz="2200" dirty="0"/>
          </a:p>
        </p:txBody>
      </p:sp>
      <p:sp>
        <p:nvSpPr>
          <p:cNvPr id="5" name="Text 3"/>
          <p:cNvSpPr/>
          <p:nvPr/>
        </p:nvSpPr>
        <p:spPr>
          <a:xfrm>
            <a:off x="812800" y="6238280"/>
            <a:ext cx="56546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A"/>
                </a:solidFill>
                <a:latin typeface="JetBrains Mono" pitchFamily="49" charset="0"/>
                <a:ea typeface="JetBrains Mono" pitchFamily="49" charset="-122"/>
                <a:cs typeface="JetBrains Mono" pitchFamily="49" charset="-120"/>
              </a:rPr>
              <a:t>src/craft_control/src/gripper_controller.cpp · 100줄</a:t>
            </a:r>
            <a:endParaRPr lang="en-US" sz="1200" dirty="0"/>
          </a:p>
        </p:txBody>
      </p:sp>
      <p:sp>
        <p:nvSpPr>
          <p:cNvPr id="6" name="Text 4"/>
          <p:cNvSpPr/>
          <p:nvPr/>
        </p:nvSpPr>
        <p:spPr>
          <a:xfrm>
            <a:off x="9604137" y="6238280"/>
            <a:ext cx="177506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8BA"/>
                </a:solidFill>
                <a:latin typeface="IBM Plex Sans KR" pitchFamily="34" charset="0"/>
                <a:ea typeface="IBM Plex Sans KR" pitchFamily="34" charset="-122"/>
                <a:cs typeface="IBM Plex Sans KR" pitchFamily="34" charset="-120"/>
              </a:rPr>
              <a:t>[발표자] · 2026-10-18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5942"/>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A3520C"/>
                </a:solidFill>
                <a:latin typeface="IBM Plex Sans KR" pitchFamily="34" charset="0"/>
                <a:ea typeface="IBM Plex Sans KR" pitchFamily="34" charset="-122"/>
                <a:cs typeface="IBM Plex Sans KR" pitchFamily="34" charset="-120"/>
              </a:rPr>
              <a:t>역할</a:t>
            </a:r>
            <a:endParaRPr lang="en-US" sz="1196" dirty="0"/>
          </a:p>
        </p:txBody>
      </p:sp>
      <p:sp>
        <p:nvSpPr>
          <p:cNvPr id="3" name="Text 1"/>
          <p:cNvSpPr/>
          <p:nvPr>
            <p:ph type="title"/>
          </p:nvPr>
        </p:nvSpPr>
        <p:spPr>
          <a:xfrm>
            <a:off x="812800" y="1099542"/>
            <a:ext cx="10883392" cy="486701"/>
          </a:xfrm>
          <a:prstGeom prst="rect">
            <a:avLst/>
          </a:prstGeom>
          <a:noFill/>
          <a:ln/>
        </p:spPr>
        <p:txBody>
          <a:bodyPr wrap="square" lIns="0" tIns="0" rIns="0" bIns="0" rtlCol="0" anchor="t">
            <a:normAutofit/>
          </a:bodyPr>
          <a:lstStyle/>
          <a:p>
            <a:pPr algn="l" indent="0" marL="0">
              <a:lnSpc>
                <a:spcPts val="3668"/>
              </a:lnSpc>
              <a:buNone/>
            </a:pPr>
            <a:r>
              <a:rPr lang="en-US" sz="3190" b="1" i="0" dirty="0">
                <a:solidFill>
                  <a:srgbClr val="1E2836"/>
                </a:solidFill>
                <a:latin typeface="IBM Plex Sans KR" pitchFamily="34" charset="0"/>
                <a:ea typeface="IBM Plex Sans KR" pitchFamily="34" charset="-122"/>
                <a:cs typeface="IBM Plex Sans KR" pitchFamily="34" charset="-120"/>
              </a:rPr>
              <a:t>명령과 피드백, 두 갈래 흐름</a:t>
            </a:r>
            <a:endParaRPr lang="en-US" sz="3190" dirty="0"/>
          </a:p>
        </p:txBody>
      </p:sp>
      <p:sp>
        <p:nvSpPr>
          <p:cNvPr id="4" name="Text 2"/>
          <p:cNvSpPr/>
          <p:nvPr/>
        </p:nvSpPr>
        <p:spPr>
          <a:xfrm>
            <a:off x="812800" y="1814843"/>
            <a:ext cx="5232400" cy="26504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A3520C"/>
                </a:solidFill>
                <a:latin typeface="IBM Plex Sans KR" pitchFamily="34" charset="0"/>
                <a:ea typeface="IBM Plex Sans KR" pitchFamily="34" charset="-122"/>
                <a:cs typeface="IBM Plex Sans KR" pitchFamily="34" charset="-120"/>
              </a:rPr>
              <a:t>명령 경로</a:t>
            </a:r>
            <a:endParaRPr lang="en-US" sz="1600" dirty="0"/>
          </a:p>
        </p:txBody>
      </p:sp>
      <p:sp>
        <p:nvSpPr>
          <p:cNvPr id="5" name="Shape 3"/>
          <p:cNvSpPr/>
          <p:nvPr/>
        </p:nvSpPr>
        <p:spPr>
          <a:xfrm>
            <a:off x="815975" y="2121165"/>
            <a:ext cx="5073650" cy="679582"/>
          </a:xfrm>
          <a:prstGeom prst="roundRect">
            <a:avLst>
              <a:gd name="adj" fmla="val 10746"/>
            </a:avLst>
          </a:prstGeom>
          <a:solidFill>
            <a:srgbClr val="FDFCF9"/>
          </a:solidFill>
          <a:ln w="6350">
            <a:solidFill>
              <a:srgbClr val="D9D5CB"/>
            </a:solidFill>
            <a:prstDash val="solid"/>
          </a:ln>
        </p:spPr>
      </p:sp>
      <p:sp>
        <p:nvSpPr>
          <p:cNvPr id="6" name="Text 4"/>
          <p:cNvSpPr/>
          <p:nvPr/>
        </p:nvSpPr>
        <p:spPr>
          <a:xfrm>
            <a:off x="969433" y="2223823"/>
            <a:ext cx="4909735" cy="2522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836"/>
                </a:solidFill>
                <a:latin typeface="JetBrains Mono" pitchFamily="49" charset="0"/>
                <a:ea typeface="JetBrains Mono" pitchFamily="49" charset="-122"/>
                <a:cs typeface="JetBrains Mono" pitchFamily="49" charset="-120"/>
              </a:rPr>
              <a:t>/planning/gripper_command</a:t>
            </a:r>
            <a:endParaRPr lang="en-US" sz="1300" dirty="0"/>
          </a:p>
        </p:txBody>
      </p:sp>
      <p:sp>
        <p:nvSpPr>
          <p:cNvPr id="7" name="Text 5"/>
          <p:cNvSpPr/>
          <p:nvPr/>
        </p:nvSpPr>
        <p:spPr>
          <a:xfrm>
            <a:off x="969433" y="2488737"/>
            <a:ext cx="4909735" cy="234752"/>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4A5363"/>
                </a:solidFill>
                <a:latin typeface="IBM Plex Sans KR" pitchFamily="34" charset="0"/>
                <a:ea typeface="IBM Plex Sans KR" pitchFamily="34" charset="-122"/>
                <a:cs typeface="IBM Plex Sans KR" pitchFamily="34" charset="-120"/>
              </a:rPr>
              <a:t>std_msgs/Bool · true = 닫기, false = 열기</a:t>
            </a:r>
            <a:endParaRPr lang="en-US" sz="1196" dirty="0"/>
          </a:p>
        </p:txBody>
      </p:sp>
      <p:pic>
        <p:nvPicPr>
          <p:cNvPr id="8" name="Image 0" descr="arrow-down">    </p:cNvPr>
          <p:cNvPicPr>
            <a:picLocks noChangeAspect="1"/>
          </p:cNvPicPr>
          <p:nvPr/>
        </p:nvPicPr>
        <p:blipFill>
          <a:blip r:embed="rId1"/>
          <a:srcRect l="0" r="0" t="0" b="0"/>
          <a:stretch/>
        </p:blipFill>
        <p:spPr>
          <a:xfrm>
            <a:off x="3289300" y="2867422"/>
            <a:ext cx="127000" cy="203200"/>
          </a:xfrm>
          <a:prstGeom prst="rect">
            <a:avLst/>
          </a:prstGeom>
        </p:spPr>
      </p:pic>
      <p:sp>
        <p:nvSpPr>
          <p:cNvPr id="9" name="Shape 6"/>
          <p:cNvSpPr/>
          <p:nvPr/>
        </p:nvSpPr>
        <p:spPr>
          <a:xfrm>
            <a:off x="815975" y="3133858"/>
            <a:ext cx="5073650" cy="679582"/>
          </a:xfrm>
          <a:prstGeom prst="roundRect">
            <a:avLst>
              <a:gd name="adj" fmla="val 10746"/>
            </a:avLst>
          </a:prstGeom>
          <a:solidFill>
            <a:srgbClr val="FDFCF9"/>
          </a:solidFill>
          <a:ln w="6350">
            <a:solidFill>
              <a:srgbClr val="D9D5CB"/>
            </a:solidFill>
            <a:prstDash val="solid"/>
          </a:ln>
        </p:spPr>
      </p:sp>
      <p:sp>
        <p:nvSpPr>
          <p:cNvPr id="10" name="Text 7"/>
          <p:cNvSpPr/>
          <p:nvPr/>
        </p:nvSpPr>
        <p:spPr>
          <a:xfrm>
            <a:off x="969433" y="3236516"/>
            <a:ext cx="4909735" cy="2522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836"/>
                </a:solidFill>
                <a:latin typeface="JetBrains Mono" pitchFamily="49" charset="0"/>
                <a:ea typeface="JetBrains Mono" pitchFamily="49" charset="-122"/>
                <a:cs typeface="JetBrains Mono" pitchFamily="49" charset="-120"/>
              </a:rPr>
              <a:t>set_target(close)</a:t>
            </a:r>
            <a:endParaRPr lang="en-US" sz="1300" dirty="0"/>
          </a:p>
        </p:txBody>
      </p:sp>
      <p:sp>
        <p:nvSpPr>
          <p:cNvPr id="11" name="Text 8"/>
          <p:cNvSpPr/>
          <p:nvPr/>
        </p:nvSpPr>
        <p:spPr>
          <a:xfrm>
            <a:off x="969433" y="3501430"/>
            <a:ext cx="4909735" cy="234752"/>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4A5363"/>
                </a:solidFill>
                <a:latin typeface="IBM Plex Sans KR" pitchFamily="34" charset="0"/>
                <a:ea typeface="IBM Plex Sans KR" pitchFamily="34" charset="-122"/>
                <a:cs typeface="IBM Plex Sans KR" pitchFamily="34" charset="-120"/>
              </a:rPr>
              <a:t>열기/닫기 목표 각도 선택</a:t>
            </a:r>
            <a:endParaRPr lang="en-US" sz="1196" dirty="0"/>
          </a:p>
        </p:txBody>
      </p:sp>
      <p:pic>
        <p:nvPicPr>
          <p:cNvPr id="12" name="Image 1" descr="arrow-down">    </p:cNvPr>
          <p:cNvPicPr>
            <a:picLocks noChangeAspect="1"/>
          </p:cNvPicPr>
          <p:nvPr/>
        </p:nvPicPr>
        <p:blipFill>
          <a:blip r:embed="rId2"/>
          <a:srcRect l="0" r="0" t="0" b="0"/>
          <a:stretch/>
        </p:blipFill>
        <p:spPr>
          <a:xfrm>
            <a:off x="3289300" y="3880115"/>
            <a:ext cx="127000" cy="203200"/>
          </a:xfrm>
          <a:prstGeom prst="rect">
            <a:avLst/>
          </a:prstGeom>
        </p:spPr>
      </p:pic>
      <p:sp>
        <p:nvSpPr>
          <p:cNvPr id="13" name="Shape 9"/>
          <p:cNvSpPr/>
          <p:nvPr/>
        </p:nvSpPr>
        <p:spPr>
          <a:xfrm>
            <a:off x="815975" y="4146550"/>
            <a:ext cx="5073650" cy="679582"/>
          </a:xfrm>
          <a:prstGeom prst="roundRect">
            <a:avLst>
              <a:gd name="adj" fmla="val 10746"/>
            </a:avLst>
          </a:prstGeom>
          <a:solidFill>
            <a:srgbClr val="FDFCF9"/>
          </a:solidFill>
          <a:ln w="6350">
            <a:solidFill>
              <a:srgbClr val="D9D5CB"/>
            </a:solidFill>
            <a:prstDash val="solid"/>
          </a:ln>
        </p:spPr>
      </p:sp>
      <p:sp>
        <p:nvSpPr>
          <p:cNvPr id="14" name="Text 10"/>
          <p:cNvSpPr/>
          <p:nvPr/>
        </p:nvSpPr>
        <p:spPr>
          <a:xfrm>
            <a:off x="969433" y="4249209"/>
            <a:ext cx="4909735" cy="2522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836"/>
                </a:solidFill>
                <a:latin typeface="JetBrains Mono" pitchFamily="49" charset="0"/>
                <a:ea typeface="JetBrains Mono" pitchFamily="49" charset="-122"/>
                <a:cs typeface="JetBrains Mono" pitchFamily="49" charset="-120"/>
              </a:rPr>
              <a:t>compute_gripper_command()</a:t>
            </a:r>
            <a:endParaRPr lang="en-US" sz="1300" dirty="0"/>
          </a:p>
        </p:txBody>
      </p:sp>
      <p:sp>
        <p:nvSpPr>
          <p:cNvPr id="15" name="Text 11"/>
          <p:cNvSpPr/>
          <p:nvPr/>
        </p:nvSpPr>
        <p:spPr>
          <a:xfrm>
            <a:off x="969433" y="4514123"/>
            <a:ext cx="4909735" cy="234752"/>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4A5363"/>
                </a:solidFill>
                <a:latin typeface="IBM Plex Sans KR" pitchFamily="34" charset="0"/>
                <a:ea typeface="IBM Plex Sans KR" pitchFamily="34" charset="-122"/>
                <a:cs typeface="IBM Plex Sans KR" pitchFamily="34" charset="-120"/>
              </a:rPr>
              <a:t>범위로 clamp한 목표 각도</a:t>
            </a:r>
            <a:endParaRPr lang="en-US" sz="1196" dirty="0"/>
          </a:p>
        </p:txBody>
      </p:sp>
      <p:pic>
        <p:nvPicPr>
          <p:cNvPr id="16" name="Image 2" descr="arrow-down">    </p:cNvPr>
          <p:cNvPicPr>
            <a:picLocks noChangeAspect="1"/>
          </p:cNvPicPr>
          <p:nvPr/>
        </p:nvPicPr>
        <p:blipFill>
          <a:blip r:embed="rId3"/>
          <a:srcRect l="0" r="0" t="0" b="0"/>
          <a:stretch/>
        </p:blipFill>
        <p:spPr>
          <a:xfrm>
            <a:off x="3289300" y="4892808"/>
            <a:ext cx="127000" cy="203200"/>
          </a:xfrm>
          <a:prstGeom prst="rect">
            <a:avLst/>
          </a:prstGeom>
        </p:spPr>
      </p:pic>
      <p:sp>
        <p:nvSpPr>
          <p:cNvPr id="17" name="Shape 12"/>
          <p:cNvSpPr/>
          <p:nvPr/>
        </p:nvSpPr>
        <p:spPr>
          <a:xfrm>
            <a:off x="815975" y="5159243"/>
            <a:ext cx="5073650" cy="679582"/>
          </a:xfrm>
          <a:prstGeom prst="roundRect">
            <a:avLst>
              <a:gd name="adj" fmla="val 10746"/>
            </a:avLst>
          </a:prstGeom>
          <a:solidFill>
            <a:srgbClr val="FDFCF9"/>
          </a:solidFill>
          <a:ln w="6350">
            <a:solidFill>
              <a:srgbClr val="D9D5CB"/>
            </a:solidFill>
            <a:prstDash val="solid"/>
          </a:ln>
        </p:spPr>
      </p:sp>
      <p:sp>
        <p:nvSpPr>
          <p:cNvPr id="18" name="Text 13"/>
          <p:cNvSpPr/>
          <p:nvPr/>
        </p:nvSpPr>
        <p:spPr>
          <a:xfrm>
            <a:off x="969433" y="5261901"/>
            <a:ext cx="4909735" cy="2522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836"/>
                </a:solidFill>
                <a:latin typeface="JetBrains Mono" pitchFamily="49" charset="0"/>
                <a:ea typeface="JetBrains Mono" pitchFamily="49" charset="-122"/>
                <a:cs typeface="JetBrains Mono" pitchFamily="49" charset="-120"/>
              </a:rPr>
              <a:t>arm OpenCR</a:t>
            </a:r>
            <a:endParaRPr lang="en-US" sz="1300" dirty="0"/>
          </a:p>
        </p:txBody>
      </p:sp>
      <p:sp>
        <p:nvSpPr>
          <p:cNvPr id="19" name="Text 14"/>
          <p:cNvSpPr/>
          <p:nvPr/>
        </p:nvSpPr>
        <p:spPr>
          <a:xfrm>
            <a:off x="969433" y="5526815"/>
            <a:ext cx="4909735" cy="234752"/>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4A5363"/>
                </a:solidFill>
                <a:latin typeface="IBM Plex Sans KR" pitchFamily="34" charset="0"/>
                <a:ea typeface="IBM Plex Sans KR" pitchFamily="34" charset="-122"/>
                <a:cs typeface="IBM Plex Sans KR" pitchFamily="34" charset="-120"/>
              </a:rPr>
              <a:t>6번째(마지막) 채널로 전송</a:t>
            </a:r>
            <a:endParaRPr lang="en-US" sz="1196" dirty="0"/>
          </a:p>
        </p:txBody>
      </p:sp>
      <p:sp>
        <p:nvSpPr>
          <p:cNvPr id="20" name="Text 15"/>
          <p:cNvSpPr/>
          <p:nvPr/>
        </p:nvSpPr>
        <p:spPr>
          <a:xfrm>
            <a:off x="6299200" y="1814843"/>
            <a:ext cx="5232400" cy="265046"/>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B5FB8"/>
                </a:solidFill>
                <a:latin typeface="IBM Plex Sans KR" pitchFamily="34" charset="0"/>
                <a:ea typeface="IBM Plex Sans KR" pitchFamily="34" charset="-122"/>
                <a:cs typeface="IBM Plex Sans KR" pitchFamily="34" charset="-120"/>
              </a:rPr>
              <a:t>피드백 경로</a:t>
            </a:r>
            <a:endParaRPr lang="en-US" sz="1600" dirty="0"/>
          </a:p>
        </p:txBody>
      </p:sp>
      <p:sp>
        <p:nvSpPr>
          <p:cNvPr id="21" name="Shape 16"/>
          <p:cNvSpPr/>
          <p:nvPr/>
        </p:nvSpPr>
        <p:spPr>
          <a:xfrm>
            <a:off x="6302375" y="2121165"/>
            <a:ext cx="5073650" cy="679582"/>
          </a:xfrm>
          <a:prstGeom prst="roundRect">
            <a:avLst>
              <a:gd name="adj" fmla="val 10746"/>
            </a:avLst>
          </a:prstGeom>
          <a:solidFill>
            <a:srgbClr val="FDFCF9"/>
          </a:solidFill>
          <a:ln w="6350">
            <a:solidFill>
              <a:srgbClr val="D9D5CB"/>
            </a:solidFill>
            <a:prstDash val="solid"/>
          </a:ln>
        </p:spPr>
      </p:sp>
      <p:sp>
        <p:nvSpPr>
          <p:cNvPr id="22" name="Text 17"/>
          <p:cNvSpPr/>
          <p:nvPr/>
        </p:nvSpPr>
        <p:spPr>
          <a:xfrm>
            <a:off x="6455833" y="2223823"/>
            <a:ext cx="4909735" cy="2522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836"/>
                </a:solidFill>
                <a:latin typeface="JetBrains Mono" pitchFamily="49" charset="0"/>
                <a:ea typeface="JetBrains Mono" pitchFamily="49" charset="-122"/>
                <a:cs typeface="JetBrains Mono" pitchFamily="49" charset="-120"/>
              </a:rPr>
              <a:t>arm OpenCR 피드백</a:t>
            </a:r>
            <a:endParaRPr lang="en-US" sz="1300" dirty="0"/>
          </a:p>
        </p:txBody>
      </p:sp>
      <p:sp>
        <p:nvSpPr>
          <p:cNvPr id="23" name="Text 18"/>
          <p:cNvSpPr/>
          <p:nvPr/>
        </p:nvSpPr>
        <p:spPr>
          <a:xfrm>
            <a:off x="6455833" y="2488737"/>
            <a:ext cx="4909735" cy="234752"/>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4A5363"/>
                </a:solidFill>
                <a:latin typeface="IBM Plex Sans KR" pitchFamily="34" charset="0"/>
                <a:ea typeface="IBM Plex Sans KR" pitchFamily="34" charset="-122"/>
                <a:cs typeface="IBM Plex Sans KR" pitchFamily="34" charset="-120"/>
              </a:rPr>
              <a:t>gripper 각도 + gripper_current_a [A]</a:t>
            </a:r>
            <a:endParaRPr lang="en-US" sz="1196" dirty="0"/>
          </a:p>
        </p:txBody>
      </p:sp>
      <p:pic>
        <p:nvPicPr>
          <p:cNvPr id="24" name="Image 3" descr="arrow-down">    </p:cNvPr>
          <p:cNvPicPr>
            <a:picLocks noChangeAspect="1"/>
          </p:cNvPicPr>
          <p:nvPr/>
        </p:nvPicPr>
        <p:blipFill>
          <a:blip r:embed="rId4"/>
          <a:srcRect l="0" r="0" t="0" b="0"/>
          <a:stretch/>
        </p:blipFill>
        <p:spPr>
          <a:xfrm>
            <a:off x="8775700" y="2867422"/>
            <a:ext cx="127000" cy="203200"/>
          </a:xfrm>
          <a:prstGeom prst="rect">
            <a:avLst/>
          </a:prstGeom>
        </p:spPr>
      </p:pic>
      <p:sp>
        <p:nvSpPr>
          <p:cNvPr id="25" name="Shape 19"/>
          <p:cNvSpPr/>
          <p:nvPr/>
        </p:nvSpPr>
        <p:spPr>
          <a:xfrm>
            <a:off x="6302375" y="3133858"/>
            <a:ext cx="5073650" cy="679582"/>
          </a:xfrm>
          <a:prstGeom prst="roundRect">
            <a:avLst>
              <a:gd name="adj" fmla="val 10746"/>
            </a:avLst>
          </a:prstGeom>
          <a:solidFill>
            <a:srgbClr val="FDFCF9"/>
          </a:solidFill>
          <a:ln w="6350">
            <a:solidFill>
              <a:srgbClr val="D9D5CB"/>
            </a:solidFill>
            <a:prstDash val="solid"/>
          </a:ln>
        </p:spPr>
      </p:sp>
      <p:sp>
        <p:nvSpPr>
          <p:cNvPr id="26" name="Text 20"/>
          <p:cNvSpPr/>
          <p:nvPr/>
        </p:nvSpPr>
        <p:spPr>
          <a:xfrm>
            <a:off x="6455833" y="3236516"/>
            <a:ext cx="4909735" cy="2522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836"/>
                </a:solidFill>
                <a:latin typeface="JetBrains Mono" pitchFamily="49" charset="0"/>
                <a:ea typeface="JetBrains Mono" pitchFamily="49" charset="-122"/>
                <a:cs typeface="JetBrains Mono" pitchFamily="49" charset="-120"/>
              </a:rPr>
              <a:t>update_current_feedback()</a:t>
            </a:r>
            <a:endParaRPr lang="en-US" sz="1300" dirty="0"/>
          </a:p>
        </p:txBody>
      </p:sp>
      <p:sp>
        <p:nvSpPr>
          <p:cNvPr id="27" name="Text 21"/>
          <p:cNvSpPr/>
          <p:nvPr/>
        </p:nvSpPr>
        <p:spPr>
          <a:xfrm>
            <a:off x="6455833" y="3501430"/>
            <a:ext cx="4909735" cy="234752"/>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4A5363"/>
                </a:solidFill>
                <a:latin typeface="IBM Plex Sans KR" pitchFamily="34" charset="0"/>
                <a:ea typeface="IBM Plex Sans KR" pitchFamily="34" charset="-122"/>
                <a:cs typeface="IBM Plex Sans KR" pitchFamily="34" charset="-120"/>
              </a:rPr>
              <a:t>과전류 지속 시간 누적</a:t>
            </a:r>
            <a:endParaRPr lang="en-US" sz="1196" dirty="0"/>
          </a:p>
        </p:txBody>
      </p:sp>
      <p:pic>
        <p:nvPicPr>
          <p:cNvPr id="28" name="Image 4" descr="arrow-down">    </p:cNvPr>
          <p:cNvPicPr>
            <a:picLocks noChangeAspect="1"/>
          </p:cNvPicPr>
          <p:nvPr/>
        </p:nvPicPr>
        <p:blipFill>
          <a:blip r:embed="rId5"/>
          <a:srcRect l="0" r="0" t="0" b="0"/>
          <a:stretch/>
        </p:blipFill>
        <p:spPr>
          <a:xfrm>
            <a:off x="8775700" y="3880115"/>
            <a:ext cx="127000" cy="203200"/>
          </a:xfrm>
          <a:prstGeom prst="rect">
            <a:avLst/>
          </a:prstGeom>
        </p:spPr>
      </p:pic>
      <p:sp>
        <p:nvSpPr>
          <p:cNvPr id="29" name="Shape 22"/>
          <p:cNvSpPr/>
          <p:nvPr/>
        </p:nvSpPr>
        <p:spPr>
          <a:xfrm>
            <a:off x="6302375" y="4146550"/>
            <a:ext cx="5073650" cy="679582"/>
          </a:xfrm>
          <a:prstGeom prst="roundRect">
            <a:avLst>
              <a:gd name="adj" fmla="val 10746"/>
            </a:avLst>
          </a:prstGeom>
          <a:solidFill>
            <a:srgbClr val="FDFCF9"/>
          </a:solidFill>
          <a:ln w="6350">
            <a:solidFill>
              <a:srgbClr val="D9D5CB"/>
            </a:solidFill>
            <a:prstDash val="solid"/>
          </a:ln>
        </p:spPr>
      </p:sp>
      <p:sp>
        <p:nvSpPr>
          <p:cNvPr id="30" name="Text 23"/>
          <p:cNvSpPr/>
          <p:nvPr/>
        </p:nvSpPr>
        <p:spPr>
          <a:xfrm>
            <a:off x="6455833" y="4249209"/>
            <a:ext cx="4909735" cy="2522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836"/>
                </a:solidFill>
                <a:latin typeface="JetBrains Mono" pitchFamily="49" charset="0"/>
                <a:ea typeface="JetBrains Mono" pitchFamily="49" charset="-122"/>
                <a:cs typeface="JetBrains Mono" pitchFamily="49" charset="-120"/>
              </a:rPr>
              <a:t>is_grasped()</a:t>
            </a:r>
            <a:endParaRPr lang="en-US" sz="1300" dirty="0"/>
          </a:p>
        </p:txBody>
      </p:sp>
      <p:sp>
        <p:nvSpPr>
          <p:cNvPr id="31" name="Text 24"/>
          <p:cNvSpPr/>
          <p:nvPr/>
        </p:nvSpPr>
        <p:spPr>
          <a:xfrm>
            <a:off x="6455833" y="4514123"/>
            <a:ext cx="4909735" cy="234752"/>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4A5363"/>
                </a:solidFill>
                <a:latin typeface="IBM Plex Sans KR" pitchFamily="34" charset="0"/>
                <a:ea typeface="IBM Plex Sans KR" pitchFamily="34" charset="-122"/>
                <a:cs typeface="IBM Plex Sans KR" pitchFamily="34" charset="-120"/>
              </a:rPr>
              <a:t>물체를 잡았는지 판정</a:t>
            </a:r>
            <a:endParaRPr lang="en-US" sz="1196" dirty="0"/>
          </a:p>
        </p:txBody>
      </p:sp>
      <p:pic>
        <p:nvPicPr>
          <p:cNvPr id="32" name="Image 5" descr="arrow-down">    </p:cNvPr>
          <p:cNvPicPr>
            <a:picLocks noChangeAspect="1"/>
          </p:cNvPicPr>
          <p:nvPr/>
        </p:nvPicPr>
        <p:blipFill>
          <a:blip r:embed="rId6"/>
          <a:srcRect l="0" r="0" t="0" b="0"/>
          <a:stretch/>
        </p:blipFill>
        <p:spPr>
          <a:xfrm>
            <a:off x="8775700" y="4892808"/>
            <a:ext cx="127000" cy="203200"/>
          </a:xfrm>
          <a:prstGeom prst="rect">
            <a:avLst/>
          </a:prstGeom>
        </p:spPr>
      </p:pic>
      <p:sp>
        <p:nvSpPr>
          <p:cNvPr id="33" name="Shape 25"/>
          <p:cNvSpPr/>
          <p:nvPr/>
        </p:nvSpPr>
        <p:spPr>
          <a:xfrm>
            <a:off x="6302375" y="5159243"/>
            <a:ext cx="5073650" cy="679582"/>
          </a:xfrm>
          <a:prstGeom prst="roundRect">
            <a:avLst>
              <a:gd name="adj" fmla="val 10746"/>
            </a:avLst>
          </a:prstGeom>
          <a:solidFill>
            <a:srgbClr val="FDFCF9"/>
          </a:solidFill>
          <a:ln w="6350">
            <a:solidFill>
              <a:srgbClr val="D9D5CB"/>
            </a:solidFill>
            <a:prstDash val="solid"/>
          </a:ln>
        </p:spPr>
      </p:sp>
      <p:sp>
        <p:nvSpPr>
          <p:cNvPr id="34" name="Text 26"/>
          <p:cNvSpPr/>
          <p:nvPr/>
        </p:nvSpPr>
        <p:spPr>
          <a:xfrm>
            <a:off x="6455833" y="5261901"/>
            <a:ext cx="4909735" cy="2522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836"/>
                </a:solidFill>
                <a:latin typeface="JetBrains Mono" pitchFamily="49" charset="0"/>
                <a:ea typeface="JetBrains Mono" pitchFamily="49" charset="-122"/>
                <a:cs typeface="JetBrains Mono" pitchFamily="49" charset="-120"/>
              </a:rPr>
              <a:t>/gripper_grasped</a:t>
            </a:r>
            <a:endParaRPr lang="en-US" sz="1300" dirty="0"/>
          </a:p>
        </p:txBody>
      </p:sp>
      <p:sp>
        <p:nvSpPr>
          <p:cNvPr id="35" name="Text 27"/>
          <p:cNvSpPr/>
          <p:nvPr/>
        </p:nvSpPr>
        <p:spPr>
          <a:xfrm>
            <a:off x="6455833" y="5526815"/>
            <a:ext cx="4909735" cy="234752"/>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4A5363"/>
                </a:solidFill>
                <a:latin typeface="IBM Plex Sans KR" pitchFamily="34" charset="0"/>
                <a:ea typeface="IBM Plex Sans KR" pitchFamily="34" charset="-122"/>
                <a:cs typeface="IBM Plex Sans KR" pitchFamily="34" charset="-120"/>
              </a:rPr>
              <a:t>std_msgs/Bool 발행</a:t>
            </a:r>
            <a:endParaRPr lang="en-US" sz="1196" dirty="0"/>
          </a:p>
        </p:txBody>
      </p:sp>
      <p:sp>
        <p:nvSpPr>
          <p:cNvPr id="36" name="Text 28"/>
          <p:cNvSpPr/>
          <p:nvPr/>
        </p:nvSpPr>
        <p:spPr>
          <a:xfrm>
            <a:off x="812800" y="6238280"/>
            <a:ext cx="14402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4"/>
                </a:solidFill>
                <a:latin typeface="IBM Plex Sans KR" pitchFamily="34" charset="0"/>
                <a:ea typeface="IBM Plex Sans KR" pitchFamily="34" charset="-122"/>
                <a:cs typeface="IBM Plex Sans KR" pitchFamily="34" charset="-120"/>
              </a:rPr>
              <a:t>GripperController</a:t>
            </a:r>
            <a:endParaRPr lang="en-US" sz="1200" dirty="0"/>
          </a:p>
        </p:txBody>
      </p:sp>
      <p:sp>
        <p:nvSpPr>
          <p:cNvPr id="37" name="Text 29"/>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4"/>
                </a:solidFill>
                <a:latin typeface="IBM Plex Sans KR" pitchFamily="34" charset="0"/>
                <a:ea typeface="IBM Plex Sans KR" pitchFamily="34" charset="-122"/>
                <a:cs typeface="IBM Plex Sans KR"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520C"/>
                </a:solidFill>
                <a:latin typeface="IBM Plex Sans KR" pitchFamily="34" charset="0"/>
                <a:ea typeface="IBM Plex Sans KR" pitchFamily="34" charset="-122"/>
                <a:cs typeface="IBM Plex Sans KR" pitchFamily="34" charset="-120"/>
              </a:rPr>
              <a:t>공개 API</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2836"/>
                </a:solidFill>
                <a:latin typeface="IBM Plex Sans KR" pitchFamily="34" charset="0"/>
                <a:ea typeface="IBM Plex Sans KR" pitchFamily="34" charset="-122"/>
                <a:cs typeface="IBM Plex Sans KR" pitchFamily="34" charset="-120"/>
              </a:rPr>
              <a:t>메서드 7개, ROS 의존성 없음</a:t>
            </a:r>
            <a:endParaRPr lang="en-US" sz="3200" dirty="0"/>
          </a:p>
        </p:txBody>
      </p:sp>
      <p:sp>
        <p:nvSpPr>
          <p:cNvPr id="4" name="Shape 2"/>
          <p:cNvSpPr/>
          <p:nvPr/>
        </p:nvSpPr>
        <p:spPr>
          <a:xfrm>
            <a:off x="812800" y="2195711"/>
            <a:ext cx="10566400" cy="0"/>
          </a:xfrm>
          <a:prstGeom prst="line">
            <a:avLst/>
          </a:prstGeom>
          <a:noFill/>
          <a:ln w="12700">
            <a:solidFill>
              <a:srgbClr val="1E2836"/>
            </a:solidFill>
            <a:prstDash val="solid"/>
          </a:ln>
        </p:spPr>
      </p:sp>
      <p:sp>
        <p:nvSpPr>
          <p:cNvPr id="5" name="Text 3"/>
          <p:cNvSpPr/>
          <p:nvPr/>
        </p:nvSpPr>
        <p:spPr>
          <a:xfrm>
            <a:off x="812800" y="1899841"/>
            <a:ext cx="443916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774"/>
                </a:solidFill>
                <a:latin typeface="IBM Plex Sans KR" pitchFamily="34" charset="0"/>
                <a:ea typeface="IBM Plex Sans KR" pitchFamily="34" charset="-122"/>
                <a:cs typeface="IBM Plex Sans KR" pitchFamily="34" charset="-120"/>
              </a:rPr>
              <a:t>메서드</a:t>
            </a:r>
            <a:endParaRPr lang="en-US" sz="1200" dirty="0"/>
          </a:p>
        </p:txBody>
      </p:sp>
      <p:sp>
        <p:nvSpPr>
          <p:cNvPr id="6" name="Text 4"/>
          <p:cNvSpPr/>
          <p:nvPr/>
        </p:nvSpPr>
        <p:spPr>
          <a:xfrm>
            <a:off x="5275064" y="1899841"/>
            <a:ext cx="401641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774"/>
                </a:solidFill>
                <a:latin typeface="IBM Plex Sans KR" pitchFamily="34" charset="0"/>
                <a:ea typeface="IBM Plex Sans KR" pitchFamily="34" charset="-122"/>
                <a:cs typeface="IBM Plex Sans KR" pitchFamily="34" charset="-120"/>
              </a:rPr>
              <a:t>역할</a:t>
            </a:r>
            <a:endParaRPr lang="en-US" sz="1200" dirty="0"/>
          </a:p>
        </p:txBody>
      </p:sp>
      <p:sp>
        <p:nvSpPr>
          <p:cNvPr id="7" name="Text 5"/>
          <p:cNvSpPr/>
          <p:nvPr/>
        </p:nvSpPr>
        <p:spPr>
          <a:xfrm>
            <a:off x="9326893" y="1899841"/>
            <a:ext cx="2113876"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5F6774"/>
                </a:solidFill>
                <a:latin typeface="IBM Plex Sans KR" pitchFamily="34" charset="0"/>
                <a:ea typeface="IBM Plex Sans KR" pitchFamily="34" charset="-122"/>
                <a:cs typeface="IBM Plex Sans KR" pitchFamily="34" charset="-120"/>
              </a:rPr>
              <a:t>호출하는 곳</a:t>
            </a:r>
            <a:endParaRPr lang="en-US" sz="1200" dirty="0"/>
          </a:p>
        </p:txBody>
      </p:sp>
      <p:sp>
        <p:nvSpPr>
          <p:cNvPr id="8" name="Shape 6"/>
          <p:cNvSpPr/>
          <p:nvPr/>
        </p:nvSpPr>
        <p:spPr>
          <a:xfrm>
            <a:off x="812800" y="2612033"/>
            <a:ext cx="10566400" cy="0"/>
          </a:xfrm>
          <a:prstGeom prst="line">
            <a:avLst/>
          </a:prstGeom>
          <a:noFill/>
          <a:ln w="6350">
            <a:solidFill>
              <a:srgbClr val="D9D5CB"/>
            </a:solidFill>
            <a:prstDash val="solid"/>
          </a:ln>
        </p:spPr>
      </p:sp>
      <p:sp>
        <p:nvSpPr>
          <p:cNvPr id="9" name="Text 7"/>
          <p:cNvSpPr/>
          <p:nvPr/>
        </p:nvSpPr>
        <p:spPr>
          <a:xfrm>
            <a:off x="812800" y="2290961"/>
            <a:ext cx="443916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836"/>
                </a:solidFill>
                <a:latin typeface="JetBrains Mono" pitchFamily="49" charset="0"/>
                <a:ea typeface="JetBrains Mono" pitchFamily="49" charset="-122"/>
                <a:cs typeface="JetBrains Mono" pitchFamily="49" charset="-120"/>
              </a:rPr>
              <a:t>configure(…)</a:t>
            </a:r>
            <a:endParaRPr lang="en-US" sz="1300" dirty="0"/>
          </a:p>
        </p:txBody>
      </p:sp>
      <p:sp>
        <p:nvSpPr>
          <p:cNvPr id="10" name="Text 8"/>
          <p:cNvSpPr/>
          <p:nvPr/>
        </p:nvSpPr>
        <p:spPr>
          <a:xfrm>
            <a:off x="5275064" y="2290961"/>
            <a:ext cx="401641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각도 범위·목표·감지 파라미터 검증 후 저장</a:t>
            </a:r>
            <a:endParaRPr lang="en-US" sz="1300" dirty="0"/>
          </a:p>
        </p:txBody>
      </p:sp>
      <p:sp>
        <p:nvSpPr>
          <p:cNvPr id="11" name="Text 9"/>
          <p:cNvSpPr/>
          <p:nvPr/>
        </p:nvSpPr>
        <p:spPr>
          <a:xfrm>
            <a:off x="9326893" y="2290961"/>
            <a:ext cx="211387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노드 생성자</a:t>
            </a:r>
            <a:endParaRPr lang="en-US" sz="1300" dirty="0"/>
          </a:p>
        </p:txBody>
      </p:sp>
      <p:sp>
        <p:nvSpPr>
          <p:cNvPr id="12" name="Shape 10"/>
          <p:cNvSpPr/>
          <p:nvPr/>
        </p:nvSpPr>
        <p:spPr>
          <a:xfrm>
            <a:off x="812800" y="3025180"/>
            <a:ext cx="10566400" cy="0"/>
          </a:xfrm>
          <a:prstGeom prst="line">
            <a:avLst/>
          </a:prstGeom>
          <a:noFill/>
          <a:ln w="6350">
            <a:solidFill>
              <a:srgbClr val="D9D5CB"/>
            </a:solidFill>
            <a:prstDash val="solid"/>
          </a:ln>
        </p:spPr>
      </p:sp>
      <p:sp>
        <p:nvSpPr>
          <p:cNvPr id="13" name="Text 11"/>
          <p:cNvSpPr/>
          <p:nvPr/>
        </p:nvSpPr>
        <p:spPr>
          <a:xfrm>
            <a:off x="812800" y="2704108"/>
            <a:ext cx="443916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836"/>
                </a:solidFill>
                <a:latin typeface="JetBrains Mono" pitchFamily="49" charset="0"/>
                <a:ea typeface="JetBrains Mono" pitchFamily="49" charset="-122"/>
                <a:cs typeface="JetBrains Mono" pitchFamily="49" charset="-120"/>
              </a:rPr>
              <a:t>set_target(close)</a:t>
            </a:r>
            <a:endParaRPr lang="en-US" sz="1300" dirty="0"/>
          </a:p>
        </p:txBody>
      </p:sp>
      <p:sp>
        <p:nvSpPr>
          <p:cNvPr id="14" name="Text 12"/>
          <p:cNvSpPr/>
          <p:nvPr/>
        </p:nvSpPr>
        <p:spPr>
          <a:xfrm>
            <a:off x="5275064" y="2704108"/>
            <a:ext cx="401641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열기/닫기 목표 각도 선택</a:t>
            </a:r>
            <a:endParaRPr lang="en-US" sz="1300" dirty="0"/>
          </a:p>
        </p:txBody>
      </p:sp>
      <p:sp>
        <p:nvSpPr>
          <p:cNvPr id="15" name="Text 13"/>
          <p:cNvSpPr/>
          <p:nvPr/>
        </p:nvSpPr>
        <p:spPr>
          <a:xfrm>
            <a:off x="9326893" y="2704108"/>
            <a:ext cx="211387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구독 콜백</a:t>
            </a:r>
            <a:endParaRPr lang="en-US" sz="1300" dirty="0"/>
          </a:p>
        </p:txBody>
      </p:sp>
      <p:sp>
        <p:nvSpPr>
          <p:cNvPr id="16" name="Shape 14"/>
          <p:cNvSpPr/>
          <p:nvPr/>
        </p:nvSpPr>
        <p:spPr>
          <a:xfrm>
            <a:off x="812800" y="3438327"/>
            <a:ext cx="10566400" cy="0"/>
          </a:xfrm>
          <a:prstGeom prst="line">
            <a:avLst/>
          </a:prstGeom>
          <a:noFill/>
          <a:ln w="6350">
            <a:solidFill>
              <a:srgbClr val="D9D5CB"/>
            </a:solidFill>
            <a:prstDash val="solid"/>
          </a:ln>
        </p:spPr>
      </p:sp>
      <p:sp>
        <p:nvSpPr>
          <p:cNvPr id="17" name="Text 15"/>
          <p:cNvSpPr/>
          <p:nvPr/>
        </p:nvSpPr>
        <p:spPr>
          <a:xfrm>
            <a:off x="812800" y="3117255"/>
            <a:ext cx="443916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836"/>
                </a:solidFill>
                <a:latin typeface="JetBrains Mono" pitchFamily="49" charset="0"/>
                <a:ea typeface="JetBrains Mono" pitchFamily="49" charset="-122"/>
                <a:cs typeface="JetBrains Mono" pitchFamily="49" charset="-120"/>
              </a:rPr>
              <a:t>compute_gripper_command(angle)</a:t>
            </a:r>
            <a:endParaRPr lang="en-US" sz="1300" dirty="0"/>
          </a:p>
        </p:txBody>
      </p:sp>
      <p:sp>
        <p:nvSpPr>
          <p:cNvPr id="18" name="Text 16"/>
          <p:cNvSpPr/>
          <p:nvPr/>
        </p:nvSpPr>
        <p:spPr>
          <a:xfrm>
            <a:off x="5275064" y="3117255"/>
            <a:ext cx="401641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모터로 보낼 목표 각도 계산</a:t>
            </a:r>
            <a:endParaRPr lang="en-US" sz="1300" dirty="0"/>
          </a:p>
        </p:txBody>
      </p:sp>
      <p:sp>
        <p:nvSpPr>
          <p:cNvPr id="19" name="Text 17"/>
          <p:cNvSpPr/>
          <p:nvPr/>
        </p:nvSpPr>
        <p:spPr>
          <a:xfrm>
            <a:off x="9326893" y="3117255"/>
            <a:ext cx="211387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제어 루프</a:t>
            </a:r>
            <a:endParaRPr lang="en-US" sz="1300" dirty="0"/>
          </a:p>
        </p:txBody>
      </p:sp>
      <p:sp>
        <p:nvSpPr>
          <p:cNvPr id="20" name="Shape 18"/>
          <p:cNvSpPr/>
          <p:nvPr/>
        </p:nvSpPr>
        <p:spPr>
          <a:xfrm>
            <a:off x="812800" y="3851473"/>
            <a:ext cx="10566400" cy="0"/>
          </a:xfrm>
          <a:prstGeom prst="line">
            <a:avLst/>
          </a:prstGeom>
          <a:noFill/>
          <a:ln w="6350">
            <a:solidFill>
              <a:srgbClr val="D9D5CB"/>
            </a:solidFill>
            <a:prstDash val="solid"/>
          </a:ln>
        </p:spPr>
      </p:sp>
      <p:sp>
        <p:nvSpPr>
          <p:cNvPr id="21" name="Text 19"/>
          <p:cNvSpPr/>
          <p:nvPr/>
        </p:nvSpPr>
        <p:spPr>
          <a:xfrm>
            <a:off x="812800" y="3530402"/>
            <a:ext cx="443916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836"/>
                </a:solidFill>
                <a:latin typeface="JetBrains Mono" pitchFamily="49" charset="0"/>
                <a:ea typeface="JetBrains Mono" pitchFamily="49" charset="-122"/>
                <a:cs typeface="JetBrains Mono" pitchFamily="49" charset="-120"/>
              </a:rPr>
              <a:t>update_current_feedback(I, dt)</a:t>
            </a:r>
            <a:endParaRPr lang="en-US" sz="1300" dirty="0"/>
          </a:p>
        </p:txBody>
      </p:sp>
      <p:sp>
        <p:nvSpPr>
          <p:cNvPr id="22" name="Text 20"/>
          <p:cNvSpPr/>
          <p:nvPr/>
        </p:nvSpPr>
        <p:spPr>
          <a:xfrm>
            <a:off x="5275064" y="3530402"/>
            <a:ext cx="401641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과전류 지속 시간 누적</a:t>
            </a:r>
            <a:endParaRPr lang="en-US" sz="1300" dirty="0"/>
          </a:p>
        </p:txBody>
      </p:sp>
      <p:sp>
        <p:nvSpPr>
          <p:cNvPr id="23" name="Text 21"/>
          <p:cNvSpPr/>
          <p:nvPr/>
        </p:nvSpPr>
        <p:spPr>
          <a:xfrm>
            <a:off x="9326893" y="3530402"/>
            <a:ext cx="211387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제어 루프</a:t>
            </a:r>
            <a:endParaRPr lang="en-US" sz="1300" dirty="0"/>
          </a:p>
        </p:txBody>
      </p:sp>
      <p:sp>
        <p:nvSpPr>
          <p:cNvPr id="24" name="Shape 22"/>
          <p:cNvSpPr/>
          <p:nvPr/>
        </p:nvSpPr>
        <p:spPr>
          <a:xfrm>
            <a:off x="812800" y="4264620"/>
            <a:ext cx="10566400" cy="0"/>
          </a:xfrm>
          <a:prstGeom prst="line">
            <a:avLst/>
          </a:prstGeom>
          <a:noFill/>
          <a:ln w="6350">
            <a:solidFill>
              <a:srgbClr val="D9D5CB"/>
            </a:solidFill>
            <a:prstDash val="solid"/>
          </a:ln>
        </p:spPr>
      </p:sp>
      <p:sp>
        <p:nvSpPr>
          <p:cNvPr id="25" name="Text 23"/>
          <p:cNvSpPr/>
          <p:nvPr/>
        </p:nvSpPr>
        <p:spPr>
          <a:xfrm>
            <a:off x="812800" y="3943548"/>
            <a:ext cx="443916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836"/>
                </a:solidFill>
                <a:latin typeface="JetBrains Mono" pitchFamily="49" charset="0"/>
                <a:ea typeface="JetBrains Mono" pitchFamily="49" charset="-122"/>
                <a:cs typeface="JetBrains Mono" pitchFamily="49" charset="-120"/>
              </a:rPr>
              <a:t>is_grasped()</a:t>
            </a:r>
            <a:endParaRPr lang="en-US" sz="1300" dirty="0"/>
          </a:p>
        </p:txBody>
      </p:sp>
      <p:sp>
        <p:nvSpPr>
          <p:cNvPr id="26" name="Text 24"/>
          <p:cNvSpPr/>
          <p:nvPr/>
        </p:nvSpPr>
        <p:spPr>
          <a:xfrm>
            <a:off x="5275064" y="3943548"/>
            <a:ext cx="401641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파지 여부 조회</a:t>
            </a:r>
            <a:endParaRPr lang="en-US" sz="1300" dirty="0"/>
          </a:p>
        </p:txBody>
      </p:sp>
      <p:sp>
        <p:nvSpPr>
          <p:cNvPr id="27" name="Text 25"/>
          <p:cNvSpPr/>
          <p:nvPr/>
        </p:nvSpPr>
        <p:spPr>
          <a:xfrm>
            <a:off x="9326893" y="3943548"/>
            <a:ext cx="211387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제어 루프</a:t>
            </a:r>
            <a:endParaRPr lang="en-US" sz="1300" dirty="0"/>
          </a:p>
        </p:txBody>
      </p:sp>
      <p:sp>
        <p:nvSpPr>
          <p:cNvPr id="28" name="Shape 26"/>
          <p:cNvSpPr/>
          <p:nvPr/>
        </p:nvSpPr>
        <p:spPr>
          <a:xfrm>
            <a:off x="812800" y="4677767"/>
            <a:ext cx="10566400" cy="0"/>
          </a:xfrm>
          <a:prstGeom prst="line">
            <a:avLst/>
          </a:prstGeom>
          <a:noFill/>
          <a:ln w="6350">
            <a:solidFill>
              <a:srgbClr val="D9D5CB"/>
            </a:solidFill>
            <a:prstDash val="solid"/>
          </a:ln>
        </p:spPr>
      </p:sp>
      <p:sp>
        <p:nvSpPr>
          <p:cNvPr id="29" name="Text 27"/>
          <p:cNvSpPr/>
          <p:nvPr/>
        </p:nvSpPr>
        <p:spPr>
          <a:xfrm>
            <a:off x="812800" y="4356695"/>
            <a:ext cx="443916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836"/>
                </a:solidFill>
                <a:latin typeface="JetBrains Mono" pitchFamily="49" charset="0"/>
                <a:ea typeface="JetBrains Mono" pitchFamily="49" charset="-122"/>
                <a:cs typeface="JetBrains Mono" pitchFamily="49" charset="-120"/>
              </a:rPr>
              <a:t>grasp_detection_configured()</a:t>
            </a:r>
            <a:endParaRPr lang="en-US" sz="1300" dirty="0"/>
          </a:p>
        </p:txBody>
      </p:sp>
      <p:sp>
        <p:nvSpPr>
          <p:cNvPr id="30" name="Text 28"/>
          <p:cNvSpPr/>
          <p:nvPr/>
        </p:nvSpPr>
        <p:spPr>
          <a:xfrm>
            <a:off x="5275064" y="4356695"/>
            <a:ext cx="401641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파지 감지 활성 여부</a:t>
            </a:r>
            <a:endParaRPr lang="en-US" sz="1300" dirty="0"/>
          </a:p>
        </p:txBody>
      </p:sp>
      <p:sp>
        <p:nvSpPr>
          <p:cNvPr id="31" name="Text 29"/>
          <p:cNvSpPr/>
          <p:nvPr/>
        </p:nvSpPr>
        <p:spPr>
          <a:xfrm>
            <a:off x="9326893" y="4356695"/>
            <a:ext cx="2113876"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생성자 (경고 로그)</a:t>
            </a:r>
            <a:endParaRPr lang="en-US" sz="1300" dirty="0"/>
          </a:p>
        </p:txBody>
      </p:sp>
      <p:sp>
        <p:nvSpPr>
          <p:cNvPr id="32" name="Shape 30"/>
          <p:cNvSpPr/>
          <p:nvPr/>
        </p:nvSpPr>
        <p:spPr>
          <a:xfrm>
            <a:off x="812800" y="5090914"/>
            <a:ext cx="10566400" cy="0"/>
          </a:xfrm>
          <a:prstGeom prst="line">
            <a:avLst/>
          </a:prstGeom>
          <a:noFill/>
          <a:ln w="6350">
            <a:solidFill>
              <a:srgbClr val="D9D5CB"/>
            </a:solidFill>
            <a:prstDash val="solid"/>
          </a:ln>
        </p:spPr>
      </p:sp>
      <p:sp>
        <p:nvSpPr>
          <p:cNvPr id="33" name="Text 31"/>
          <p:cNvSpPr/>
          <p:nvPr/>
        </p:nvSpPr>
        <p:spPr>
          <a:xfrm>
            <a:off x="812800" y="4769842"/>
            <a:ext cx="4439160"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1E2836"/>
                </a:solidFill>
                <a:latin typeface="JetBrains Mono" pitchFamily="49" charset="0"/>
                <a:ea typeface="JetBrains Mono" pitchFamily="49" charset="-122"/>
                <a:cs typeface="JetBrains Mono" pitchFamily="49" charset="-120"/>
              </a:rPr>
              <a:t>is_target_reached(angle, tol)</a:t>
            </a:r>
            <a:endParaRPr lang="en-US" sz="1300" dirty="0"/>
          </a:p>
        </p:txBody>
      </p:sp>
      <p:sp>
        <p:nvSpPr>
          <p:cNvPr id="34" name="Text 32"/>
          <p:cNvSpPr/>
          <p:nvPr/>
        </p:nvSpPr>
        <p:spPr>
          <a:xfrm>
            <a:off x="5275064" y="4769842"/>
            <a:ext cx="4016412"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목표 각도 도달 판정</a:t>
            </a:r>
            <a:endParaRPr lang="en-US" sz="1300" dirty="0"/>
          </a:p>
        </p:txBody>
      </p:sp>
      <p:sp>
        <p:nvSpPr>
          <p:cNvPr id="35" name="Text 33"/>
          <p:cNvSpPr/>
          <p:nvPr/>
        </p:nvSpPr>
        <p:spPr>
          <a:xfrm>
            <a:off x="9326893" y="4769842"/>
            <a:ext cx="2113876"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A3520C"/>
                </a:solidFill>
                <a:latin typeface="IBM Plex Sans KR" pitchFamily="34" charset="0"/>
                <a:ea typeface="IBM Plex Sans KR" pitchFamily="34" charset="-122"/>
                <a:cs typeface="IBM Plex Sans KR" pitchFamily="34" charset="-120"/>
              </a:rPr>
              <a:t>아직 미사용</a:t>
            </a:r>
            <a:endParaRPr lang="en-US" sz="1300" dirty="0"/>
          </a:p>
        </p:txBody>
      </p:sp>
      <p:sp>
        <p:nvSpPr>
          <p:cNvPr id="36" name="Text 34"/>
          <p:cNvSpPr/>
          <p:nvPr/>
        </p:nvSpPr>
        <p:spPr>
          <a:xfrm>
            <a:off x="812800" y="6238280"/>
            <a:ext cx="14402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4"/>
                </a:solidFill>
                <a:latin typeface="IBM Plex Sans KR" pitchFamily="34" charset="0"/>
                <a:ea typeface="IBM Plex Sans KR" pitchFamily="34" charset="-122"/>
                <a:cs typeface="IBM Plex Sans KR" pitchFamily="34" charset="-120"/>
              </a:rPr>
              <a:t>GripperController</a:t>
            </a:r>
            <a:endParaRPr lang="en-US" sz="1200" dirty="0"/>
          </a:p>
        </p:txBody>
      </p:sp>
      <p:sp>
        <p:nvSpPr>
          <p:cNvPr id="37" name="Text 35"/>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4"/>
                </a:solidFill>
                <a:latin typeface="IBM Plex Sans KR" pitchFamily="34" charset="0"/>
                <a:ea typeface="IBM Plex Sans KR" pitchFamily="34" charset="-122"/>
                <a:cs typeface="IBM Plex Sans KR"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520C"/>
                </a:solidFill>
                <a:latin typeface="IBM Plex Sans KR" pitchFamily="34" charset="0"/>
                <a:ea typeface="IBM Plex Sans KR" pitchFamily="34" charset="-122"/>
                <a:cs typeface="IBM Plex Sans KR" pitchFamily="34" charset="-120"/>
              </a:rPr>
              <a:t>configure()</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2836"/>
                </a:solidFill>
                <a:latin typeface="IBM Plex Sans KR" pitchFamily="34" charset="0"/>
                <a:ea typeface="IBM Plex Sans KR" pitchFamily="34" charset="-122"/>
                <a:cs typeface="IBM Plex Sans KR" pitchFamily="34" charset="-120"/>
              </a:rPr>
              <a:t>잘못된 설정은 시작 단계에서 막는다</a:t>
            </a:r>
            <a:endParaRPr lang="en-US" sz="3200" dirty="0"/>
          </a:p>
        </p:txBody>
      </p:sp>
      <p:sp>
        <p:nvSpPr>
          <p:cNvPr id="4" name="Text 2"/>
          <p:cNvSpPr/>
          <p:nvPr/>
        </p:nvSpPr>
        <p:spPr>
          <a:xfrm>
            <a:off x="812800" y="1823641"/>
            <a:ext cx="634169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2836"/>
                </a:solidFill>
                <a:latin typeface="IBM Plex Sans KR" pitchFamily="34" charset="0"/>
                <a:ea typeface="IBM Plex Sans KR" pitchFamily="34" charset="-122"/>
                <a:cs typeface="IBM Plex Sans KR" pitchFamily="34" charset="-120"/>
              </a:rPr>
              <a:t>검증 규칙</a:t>
            </a:r>
            <a:endParaRPr lang="en-US" sz="1600" dirty="0"/>
          </a:p>
        </p:txBody>
      </p:sp>
      <p:sp>
        <p:nvSpPr>
          <p:cNvPr id="5" name="Text 3"/>
          <p:cNvSpPr/>
          <p:nvPr/>
        </p:nvSpPr>
        <p:spPr>
          <a:xfrm>
            <a:off x="871220" y="2169055"/>
            <a:ext cx="6275656" cy="1454150"/>
          </a:xfrm>
          <a:prstGeom prst="rect">
            <a:avLst/>
          </a:prstGeom>
          <a:noFill/>
          <a:ln/>
        </p:spPr>
        <p:txBody>
          <a:bodyPr wrap="square" lIns="0" tIns="0" rIns="0" bIns="0" rtlCol="0" anchor="t">
            <a:normAutofit/>
          </a:bodyPr>
          <a:lstStyle/>
          <a:p>
            <a:pPr algn="l" marL="195580" indent="-195580">
              <a:lnSpc>
                <a:spcPts val="2250"/>
              </a:lnSpc>
              <a:buSzPct val="100000"/>
              <a:buChar char="•"/>
            </a:pPr>
            <a:r>
              <a:rPr lang="en-US" sz="1500" dirty="0">
                <a:solidFill>
                  <a:srgbClr val="4A5363"/>
                </a:solidFill>
                <a:latin typeface="IBM Plex Sans KR" pitchFamily="34" charset="0"/>
                <a:ea typeface="IBM Plex Sans KR" pitchFamily="34" charset="-122"/>
                <a:cs typeface="IBM Plex Sans KR" pitchFamily="34" charset="-120"/>
              </a:rPr>
              <a:t>6개 입력 모두 유한한 값 (NaN, inf 거부)</a:t>
            </a:r>
            <a:endParaRPr lang="en-US" sz="1500" dirty="0"/>
          </a:p>
          <a:p>
            <a:pPr algn="l" marL="195580" indent="-195580">
              <a:lnSpc>
                <a:spcPts val="2250"/>
              </a:lnSpc>
              <a:buSzPct val="100000"/>
              <a:buChar char="•"/>
            </a:pPr>
            <a:r>
              <a:rPr lang="en-US" sz="1500" dirty="0">
                <a:solidFill>
                  <a:srgbClr val="4A5363"/>
                </a:solidFill>
                <a:latin typeface="IBM Plex Sans KR" pitchFamily="34" charset="0"/>
                <a:ea typeface="IBM Plex Sans KR" pitchFamily="34" charset="-122"/>
                <a:cs typeface="IBM Plex Sans KR" pitchFamily="34" charset="-120"/>
              </a:rPr>
              <a:t>min_angle &lt; max_angle</a:t>
            </a:r>
            <a:endParaRPr lang="en-US" sz="1500" dirty="0"/>
          </a:p>
          <a:p>
            <a:pPr algn="l" marL="195580" indent="-195580">
              <a:lnSpc>
                <a:spcPts val="2250"/>
              </a:lnSpc>
              <a:buSzPct val="100000"/>
              <a:buChar char="•"/>
            </a:pPr>
            <a:r>
              <a:rPr lang="en-US" sz="1500" dirty="0">
                <a:solidFill>
                  <a:srgbClr val="4A5363"/>
                </a:solidFill>
                <a:latin typeface="IBM Plex Sans KR" pitchFamily="34" charset="0"/>
                <a:ea typeface="IBM Plex Sans KR" pitchFamily="34" charset="-122"/>
                <a:cs typeface="IBM Plex Sans KR" pitchFamily="34" charset="-120"/>
              </a:rPr>
              <a:t>open_angle, close_angle은 [min, max] 안</a:t>
            </a:r>
            <a:endParaRPr lang="en-US" sz="1500" dirty="0"/>
          </a:p>
          <a:p>
            <a:pPr algn="l" marL="195580" indent="-195580">
              <a:lnSpc>
                <a:spcPts val="2250"/>
              </a:lnSpc>
              <a:buSzPct val="100000"/>
              <a:buChar char="•"/>
            </a:pPr>
            <a:r>
              <a:rPr lang="en-US" sz="1500" dirty="0">
                <a:solidFill>
                  <a:srgbClr val="4A5363"/>
                </a:solidFill>
                <a:latin typeface="IBM Plex Sans KR" pitchFamily="34" charset="0"/>
                <a:ea typeface="IBM Plex Sans KR" pitchFamily="34" charset="-122"/>
                <a:cs typeface="IBM Plex Sans KR" pitchFamily="34" charset="-120"/>
              </a:rPr>
              <a:t>threshold ≥ 0, debounce ≥ 0</a:t>
            </a:r>
            <a:endParaRPr lang="en-US" sz="1500" dirty="0"/>
          </a:p>
          <a:p>
            <a:pPr algn="l" marL="195580" indent="-195580">
              <a:lnSpc>
                <a:spcPts val="2250"/>
              </a:lnSpc>
              <a:buSzPct val="100000"/>
              <a:buChar char="•"/>
            </a:pPr>
            <a:r>
              <a:rPr lang="en-US" sz="1500" dirty="0">
                <a:solidFill>
                  <a:srgbClr val="4A5363"/>
                </a:solidFill>
                <a:latin typeface="IBM Plex Sans KR" pitchFamily="34" charset="0"/>
                <a:ea typeface="IBM Plex Sans KR" pitchFamily="34" charset="-122"/>
                <a:cs typeface="IBM Plex Sans KR" pitchFamily="34" charset="-120"/>
              </a:rPr>
              <a:t>감지 파라미터는 </a:t>
            </a:r>
            <a:r>
              <a:rPr lang="en-US" sz="1500" b="1" dirty="0">
                <a:solidFill>
                  <a:srgbClr val="4A5363"/>
                </a:solidFill>
                <a:latin typeface="IBM Plex Sans KR" pitchFamily="34" charset="0"/>
                <a:ea typeface="IBM Plex Sans KR" pitchFamily="34" charset="-122"/>
                <a:cs typeface="IBM Plex Sans KR" pitchFamily="34" charset="-120"/>
              </a:rPr>
              <a:t>둘 다 0</a:t>
            </a:r>
            <a:r>
              <a:rPr lang="en-US" sz="1500" dirty="0">
                <a:solidFill>
                  <a:srgbClr val="4A5363"/>
                </a:solidFill>
                <a:latin typeface="IBM Plex Sans KR" pitchFamily="34" charset="0"/>
                <a:ea typeface="IBM Plex Sans KR" pitchFamily="34" charset="-122"/>
                <a:cs typeface="IBM Plex Sans KR" pitchFamily="34" charset="-120"/>
              </a:rPr>
              <a:t>(비활성) 또는 </a:t>
            </a:r>
            <a:r>
              <a:rPr lang="en-US" sz="1500" b="1" dirty="0">
                <a:solidFill>
                  <a:srgbClr val="4A5363"/>
                </a:solidFill>
                <a:latin typeface="IBM Plex Sans KR" pitchFamily="34" charset="0"/>
                <a:ea typeface="IBM Plex Sans KR" pitchFamily="34" charset="-122"/>
                <a:cs typeface="IBM Plex Sans KR" pitchFamily="34" charset="-120"/>
              </a:rPr>
              <a:t>둘 다 &gt; 0</a:t>
            </a:r>
            <a:r>
              <a:rPr lang="en-US" sz="1500" dirty="0">
                <a:solidFill>
                  <a:srgbClr val="4A5363"/>
                </a:solidFill>
                <a:latin typeface="IBM Plex Sans KR" pitchFamily="34" charset="0"/>
                <a:ea typeface="IBM Plex Sans KR" pitchFamily="34" charset="-122"/>
                <a:cs typeface="IBM Plex Sans KR" pitchFamily="34" charset="-120"/>
              </a:rPr>
              <a:t>(활성)</a:t>
            </a:r>
            <a:endParaRPr lang="en-US" sz="1500" dirty="0"/>
          </a:p>
        </p:txBody>
      </p:sp>
      <p:sp>
        <p:nvSpPr>
          <p:cNvPr id="6" name="Text 4"/>
          <p:cNvSpPr/>
          <p:nvPr/>
        </p:nvSpPr>
        <p:spPr>
          <a:xfrm>
            <a:off x="812800" y="3699405"/>
            <a:ext cx="6341696" cy="273050"/>
          </a:xfrm>
          <a:prstGeom prst="rect">
            <a:avLst/>
          </a:prstGeom>
          <a:noFill/>
          <a:ln/>
        </p:spPr>
        <p:txBody>
          <a:bodyPr wrap="square" lIns="0" tIns="0" rIns="0" bIns="0" rtlCol="0" anchor="t">
            <a:normAutofit/>
          </a:bodyPr>
          <a:lstStyle/>
          <a:p>
            <a:pPr algn="l" indent="0" marL="0">
              <a:lnSpc>
                <a:spcPts val="1950"/>
              </a:lnSpc>
              <a:buNone/>
            </a:pPr>
            <a:r>
              <a:rPr lang="en-US" sz="1300" b="1" dirty="0">
                <a:solidFill>
                  <a:srgbClr val="A3520C"/>
                </a:solidFill>
                <a:latin typeface="IBM Plex Sans KR" pitchFamily="34" charset="0"/>
                <a:ea typeface="IBM Plex Sans KR" pitchFamily="34" charset="-122"/>
                <a:cs typeface="IBM Plex Sans KR" pitchFamily="34" charset="-120"/>
              </a:rPr>
              <a:t>→ 한쪽만 0인 “반쯤 켜진” 감지 설정은 거부</a:t>
            </a:r>
            <a:endParaRPr lang="en-US" sz="1300" dirty="0"/>
          </a:p>
        </p:txBody>
      </p:sp>
      <p:sp>
        <p:nvSpPr>
          <p:cNvPr id="7" name="Shape 5"/>
          <p:cNvSpPr/>
          <p:nvPr/>
        </p:nvSpPr>
        <p:spPr>
          <a:xfrm>
            <a:off x="7274587" y="1823641"/>
            <a:ext cx="4104614" cy="1221714"/>
          </a:xfrm>
          <a:prstGeom prst="roundRect">
            <a:avLst>
              <a:gd name="adj" fmla="val 8316"/>
            </a:avLst>
          </a:prstGeom>
          <a:solidFill>
            <a:srgbClr val="16202E"/>
          </a:solidFill>
          <a:ln/>
        </p:spPr>
      </p:sp>
      <p:sp>
        <p:nvSpPr>
          <p:cNvPr id="8" name="Text 6"/>
          <p:cNvSpPr/>
          <p:nvPr/>
        </p:nvSpPr>
        <p:spPr>
          <a:xfrm>
            <a:off x="7477787" y="2026841"/>
            <a:ext cx="380916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0A35E"/>
                </a:solidFill>
                <a:latin typeface="IBM Plex Sans KR" pitchFamily="34" charset="0"/>
                <a:ea typeface="IBM Plex Sans KR" pitchFamily="34" charset="-122"/>
                <a:cs typeface="IBM Plex Sans KR" pitchFamily="34" charset="-120"/>
              </a:rPr>
              <a:t>실패하면</a:t>
            </a:r>
            <a:endParaRPr lang="en-US" sz="1600" dirty="0"/>
          </a:p>
        </p:txBody>
      </p:sp>
      <p:sp>
        <p:nvSpPr>
          <p:cNvPr id="9" name="Text 7"/>
          <p:cNvSpPr/>
          <p:nvPr/>
        </p:nvSpPr>
        <p:spPr>
          <a:xfrm>
            <a:off x="7477787" y="2346855"/>
            <a:ext cx="3809160"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E6E9EE"/>
                </a:solidFill>
                <a:latin typeface="IBM Plex Sans KR" pitchFamily="34" charset="0"/>
                <a:ea typeface="IBM Plex Sans KR" pitchFamily="34" charset="-122"/>
                <a:cs typeface="IBM Plex Sans KR" pitchFamily="34" charset="-120"/>
              </a:rPr>
              <a:t>configure()가 false를 반환하고, control_master가 runtime_error로 노드 기동을 중단</a:t>
            </a:r>
            <a:endParaRPr lang="en-US" sz="1300" dirty="0"/>
          </a:p>
        </p:txBody>
      </p:sp>
      <p:sp>
        <p:nvSpPr>
          <p:cNvPr id="10" name="Shape 8"/>
          <p:cNvSpPr/>
          <p:nvPr/>
        </p:nvSpPr>
        <p:spPr>
          <a:xfrm>
            <a:off x="7277762" y="3200930"/>
            <a:ext cx="4098264" cy="1223830"/>
          </a:xfrm>
          <a:prstGeom prst="roundRect">
            <a:avLst>
              <a:gd name="adj" fmla="val 8042"/>
            </a:avLst>
          </a:prstGeom>
          <a:solidFill>
            <a:srgbClr val="FDFCF9"/>
          </a:solidFill>
          <a:ln w="6350">
            <a:solidFill>
              <a:srgbClr val="D9D5CB"/>
            </a:solidFill>
            <a:prstDash val="solid"/>
          </a:ln>
        </p:spPr>
      </p:sp>
      <p:sp>
        <p:nvSpPr>
          <p:cNvPr id="11" name="Text 9"/>
          <p:cNvSpPr/>
          <p:nvPr/>
        </p:nvSpPr>
        <p:spPr>
          <a:xfrm>
            <a:off x="7482020" y="3405188"/>
            <a:ext cx="3800439"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E2836"/>
                </a:solidFill>
                <a:latin typeface="IBM Plex Sans KR" pitchFamily="34" charset="0"/>
                <a:ea typeface="IBM Plex Sans KR" pitchFamily="34" charset="-122"/>
                <a:cs typeface="IBM Plex Sans KR" pitchFamily="34" charset="-120"/>
              </a:rPr>
              <a:t>상태부터 초기화</a:t>
            </a:r>
            <a:endParaRPr lang="en-US" sz="1600" dirty="0"/>
          </a:p>
        </p:txBody>
      </p:sp>
      <p:sp>
        <p:nvSpPr>
          <p:cNvPr id="12" name="Text 10"/>
          <p:cNvSpPr/>
          <p:nvPr/>
        </p:nvSpPr>
        <p:spPr>
          <a:xfrm>
            <a:off x="7482020" y="3725202"/>
            <a:ext cx="3800439"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363"/>
                </a:solidFill>
                <a:latin typeface="IBM Plex Sans KR" pitchFamily="34" charset="0"/>
                <a:ea typeface="IBM Plex Sans KR" pitchFamily="34" charset="-122"/>
                <a:cs typeface="IBM Plex Sans KR" pitchFamily="34" charset="-120"/>
              </a:rPr>
              <a:t>검증 전에 configured_ = false, has_target_ = false. 실패해도 이전 설정이 남지 않음</a:t>
            </a:r>
            <a:endParaRPr lang="en-US" sz="1300" dirty="0"/>
          </a:p>
        </p:txBody>
      </p:sp>
      <p:sp>
        <p:nvSpPr>
          <p:cNvPr id="13" name="Text 11"/>
          <p:cNvSpPr/>
          <p:nvPr/>
        </p:nvSpPr>
        <p:spPr>
          <a:xfrm>
            <a:off x="812800" y="6238280"/>
            <a:ext cx="14402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4"/>
                </a:solidFill>
                <a:latin typeface="IBM Plex Sans KR" pitchFamily="34" charset="0"/>
                <a:ea typeface="IBM Plex Sans KR" pitchFamily="34" charset="-122"/>
                <a:cs typeface="IBM Plex Sans KR" pitchFamily="34" charset="-120"/>
              </a:rPr>
              <a:t>GripperController</a:t>
            </a:r>
            <a:endParaRPr lang="en-US" sz="1200" dirty="0"/>
          </a:p>
        </p:txBody>
      </p:sp>
      <p:sp>
        <p:nvSpPr>
          <p:cNvPr id="14" name="Text 12"/>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4"/>
                </a:solidFill>
                <a:latin typeface="IBM Plex Sans KR" pitchFamily="34" charset="0"/>
                <a:ea typeface="IBM Plex Sans KR" pitchFamily="34" charset="-122"/>
                <a:cs typeface="IBM Plex Sans KR"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520C"/>
                </a:solidFill>
                <a:latin typeface="IBM Plex Sans KR" pitchFamily="34" charset="0"/>
                <a:ea typeface="IBM Plex Sans KR" pitchFamily="34" charset="-122"/>
                <a:cs typeface="IBM Plex Sans KR" pitchFamily="34" charset="-120"/>
              </a:rPr>
              <a:t>set_target()</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2836"/>
                </a:solidFill>
                <a:latin typeface="IBM Plex Sans KR" pitchFamily="34" charset="0"/>
                <a:ea typeface="IBM Plex Sans KR" pitchFamily="34" charset="-122"/>
                <a:cs typeface="IBM Plex Sans KR" pitchFamily="34" charset="-120"/>
              </a:rPr>
              <a:t>방향이 바뀔 때만 감지 상태를 리셋</a:t>
            </a:r>
            <a:endParaRPr lang="en-US" sz="3200" dirty="0"/>
          </a:p>
        </p:txBody>
      </p:sp>
      <p:sp>
        <p:nvSpPr>
          <p:cNvPr id="4" name="Text 2"/>
          <p:cNvSpPr/>
          <p:nvPr/>
        </p:nvSpPr>
        <p:spPr>
          <a:xfrm>
            <a:off x="812800" y="1823641"/>
            <a:ext cx="5207000" cy="3835400"/>
          </a:xfrm>
          <a:prstGeom prst="roundRect">
            <a:avLst>
              <a:gd name="adj" fmla="val 2649"/>
            </a:avLst>
          </a:prstGeom>
          <a:solidFill>
            <a:srgbClr val="16202E"/>
          </a:solidFill>
          <a:ln/>
        </p:spPr>
        <p:txBody>
          <a:bodyPr wrap="square" lIns="224242" tIns="173442" rIns="83272" bIns="148042" rtlCol="0" anchor="t">
            <a:normAutofit/>
          </a:bodyPr>
          <a:lstStyle/>
          <a:p>
            <a:pPr algn="l" indent="0" marL="0">
              <a:lnSpc>
                <a:spcPts val="1800"/>
              </a:lnSpc>
              <a:buNone/>
            </a:pPr>
            <a:r>
              <a:rPr lang="en-US" sz="1200" dirty="0">
                <a:solidFill>
                  <a:srgbClr val="E6E9EE"/>
                </a:solidFill>
                <a:latin typeface="JetBrains Mono" pitchFamily="49" charset="0"/>
                <a:ea typeface="JetBrains Mono" pitchFamily="49" charset="-122"/>
                <a:cs typeface="JetBrains Mono" pitchFamily="49" charset="-120"/>
              </a:rPr>
              <a:t>bool set_target(bool close)</a:t>
            </a:r>
            <a:endParaRPr lang="en-US" sz="1200" dirty="0"/>
          </a:p>
          <a:p>
            <a:pPr algn="l" indent="0" marL="0">
              <a:lnSpc>
                <a:spcPts val="1800"/>
              </a:lnSpc>
              <a:buNone/>
            </a:pPr>
            <a:r>
              <a:rPr lang="en-US" sz="1200" dirty="0">
                <a:solidFill>
                  <a:srgbClr val="E6E9EE"/>
                </a:solidFill>
                <a:latin typeface="JetBrains Mono" pitchFamily="49" charset="0"/>
                <a:ea typeface="JetBrains Mono" pitchFamily="49" charset="-122"/>
                <a:cs typeface="JetBrains Mono" pitchFamily="49" charset="-120"/>
              </a:rPr>
              <a:t>{</a:t>
            </a:r>
            <a:endParaRPr lang="en-US" sz="1200" dirty="0"/>
          </a:p>
          <a:p>
            <a:pPr algn="l" indent="0" marL="0">
              <a:lnSpc>
                <a:spcPts val="1800"/>
              </a:lnSpc>
              <a:buNone/>
            </a:pPr>
            <a:r>
              <a:rPr lang="en-US" sz="1200" dirty="0">
                <a:solidFill>
                  <a:srgbClr val="E6E9EE"/>
                </a:solidFill>
                <a:latin typeface="JetBrains Mono" pitchFamily="49" charset="0"/>
                <a:ea typeface="JetBrains Mono" pitchFamily="49" charset="-122"/>
                <a:cs typeface="JetBrains Mono" pitchFamily="49" charset="-120"/>
              </a:rPr>
              <a:t>  if (!configured_) {</a:t>
            </a:r>
            <a:endParaRPr lang="en-US" sz="1200" dirty="0"/>
          </a:p>
          <a:p>
            <a:pPr algn="l" indent="0" marL="0">
              <a:lnSpc>
                <a:spcPts val="1800"/>
              </a:lnSpc>
              <a:buNone/>
            </a:pPr>
            <a:r>
              <a:rPr lang="en-US" sz="1200" dirty="0">
                <a:solidFill>
                  <a:srgbClr val="E6E9EE"/>
                </a:solidFill>
                <a:latin typeface="JetBrains Mono" pitchFamily="49" charset="0"/>
                <a:ea typeface="JetBrains Mono" pitchFamily="49" charset="-122"/>
                <a:cs typeface="JetBrains Mono" pitchFamily="49" charset="-120"/>
              </a:rPr>
              <a:t>    return false;</a:t>
            </a:r>
            <a:endParaRPr lang="en-US" sz="1200" dirty="0"/>
          </a:p>
          <a:p>
            <a:pPr algn="l" indent="0" marL="0">
              <a:lnSpc>
                <a:spcPts val="1800"/>
              </a:lnSpc>
              <a:buNone/>
            </a:pPr>
            <a:r>
              <a:rPr lang="en-US" sz="1200" dirty="0">
                <a:solidFill>
                  <a:srgbClr val="E6E9EE"/>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F0A35E"/>
                </a:solidFill>
                <a:latin typeface="JetBrains Mono" pitchFamily="49" charset="0"/>
                <a:ea typeface="JetBrains Mono" pitchFamily="49" charset="-122"/>
                <a:cs typeface="JetBrains Mono" pitchFamily="49" charset="-120"/>
              </a:rPr>
              <a:t>  if (!has_target_ || closing_ != close) {</a:t>
            </a:r>
            <a:endParaRPr lang="en-US" sz="1200" dirty="0"/>
          </a:p>
          <a:p>
            <a:pPr algn="l" indent="0" marL="0">
              <a:lnSpc>
                <a:spcPts val="1800"/>
              </a:lnSpc>
              <a:buNone/>
            </a:pPr>
            <a:r>
              <a:rPr lang="en-US" sz="1200" dirty="0">
                <a:solidFill>
                  <a:srgbClr val="F0A35E"/>
                </a:solidFill>
                <a:latin typeface="JetBrains Mono" pitchFamily="49" charset="0"/>
                <a:ea typeface="JetBrains Mono" pitchFamily="49" charset="-122"/>
                <a:cs typeface="JetBrains Mono" pitchFamily="49" charset="-120"/>
              </a:rPr>
              <a:t>    overcurrent_time_ = 0.0;</a:t>
            </a:r>
            <a:endParaRPr lang="en-US" sz="1200" dirty="0"/>
          </a:p>
          <a:p>
            <a:pPr algn="l" indent="0" marL="0">
              <a:lnSpc>
                <a:spcPts val="1800"/>
              </a:lnSpc>
              <a:buNone/>
            </a:pPr>
            <a:r>
              <a:rPr lang="en-US" sz="1200" dirty="0">
                <a:solidFill>
                  <a:srgbClr val="F0A35E"/>
                </a:solidFill>
                <a:latin typeface="JetBrains Mono" pitchFamily="49" charset="0"/>
                <a:ea typeface="JetBrains Mono" pitchFamily="49" charset="-122"/>
                <a:cs typeface="JetBrains Mono" pitchFamily="49" charset="-120"/>
              </a:rPr>
              <a:t>    grasped_ = false;</a:t>
            </a:r>
            <a:endParaRPr lang="en-US" sz="1200" dirty="0"/>
          </a:p>
          <a:p>
            <a:pPr algn="l" indent="0" marL="0">
              <a:lnSpc>
                <a:spcPts val="1800"/>
              </a:lnSpc>
              <a:buNone/>
            </a:pPr>
            <a:r>
              <a:rPr lang="en-US" sz="1200" dirty="0">
                <a:solidFill>
                  <a:srgbClr val="F0A35E"/>
                </a:solidFill>
                <a:latin typeface="JetBrains Mono" pitchFamily="49" charset="0"/>
                <a:ea typeface="JetBrains Mono" pitchFamily="49" charset="-122"/>
                <a:cs typeface="JetBrains Mono" pitchFamily="49" charset="-120"/>
              </a:rPr>
              <a:t>  }</a:t>
            </a:r>
            <a:endParaRPr lang="en-US" sz="1200" dirty="0"/>
          </a:p>
          <a:p>
            <a:pPr algn="l" indent="0" marL="0">
              <a:lnSpc>
                <a:spcPts val="1800"/>
              </a:lnSpc>
              <a:buNone/>
            </a:pPr>
            <a:r>
              <a:rPr lang="en-US" sz="1200" dirty="0">
                <a:solidFill>
                  <a:srgbClr val="E6E9EE"/>
                </a:solidFill>
                <a:latin typeface="JetBrains Mono" pitchFamily="49" charset="0"/>
                <a:ea typeface="JetBrains Mono" pitchFamily="49" charset="-122"/>
                <a:cs typeface="JetBrains Mono" pitchFamily="49" charset="-120"/>
              </a:rPr>
              <a:t>  target_angle_ = close ? close_angle_</a:t>
            </a:r>
            <a:endParaRPr lang="en-US" sz="1200" dirty="0"/>
          </a:p>
          <a:p>
            <a:pPr algn="l" indent="0" marL="0">
              <a:lnSpc>
                <a:spcPts val="1800"/>
              </a:lnSpc>
              <a:buNone/>
            </a:pPr>
            <a:r>
              <a:rPr lang="en-US" sz="1200" dirty="0">
                <a:solidFill>
                  <a:srgbClr val="E6E9EE"/>
                </a:solidFill>
                <a:latin typeface="JetBrains Mono" pitchFamily="49" charset="0"/>
                <a:ea typeface="JetBrains Mono" pitchFamily="49" charset="-122"/>
                <a:cs typeface="JetBrains Mono" pitchFamily="49" charset="-120"/>
              </a:rPr>
              <a:t>                  : open_angle_;</a:t>
            </a:r>
            <a:endParaRPr lang="en-US" sz="1200" dirty="0"/>
          </a:p>
          <a:p>
            <a:pPr algn="l" indent="0" marL="0">
              <a:lnSpc>
                <a:spcPts val="1800"/>
              </a:lnSpc>
              <a:buNone/>
            </a:pPr>
            <a:r>
              <a:rPr lang="en-US" sz="1200" dirty="0">
                <a:solidFill>
                  <a:srgbClr val="E6E9EE"/>
                </a:solidFill>
                <a:latin typeface="JetBrains Mono" pitchFamily="49" charset="0"/>
                <a:ea typeface="JetBrains Mono" pitchFamily="49" charset="-122"/>
                <a:cs typeface="JetBrains Mono" pitchFamily="49" charset="-120"/>
              </a:rPr>
              <a:t>  closing_ = close;</a:t>
            </a:r>
            <a:endParaRPr lang="en-US" sz="1200" dirty="0"/>
          </a:p>
          <a:p>
            <a:pPr algn="l" indent="0" marL="0">
              <a:lnSpc>
                <a:spcPts val="1800"/>
              </a:lnSpc>
              <a:buNone/>
            </a:pPr>
            <a:r>
              <a:rPr lang="en-US" sz="1200" dirty="0">
                <a:solidFill>
                  <a:srgbClr val="E6E9EE"/>
                </a:solidFill>
                <a:latin typeface="JetBrains Mono" pitchFamily="49" charset="0"/>
                <a:ea typeface="JetBrains Mono" pitchFamily="49" charset="-122"/>
                <a:cs typeface="JetBrains Mono" pitchFamily="49" charset="-120"/>
              </a:rPr>
              <a:t>  has_target_ = true;</a:t>
            </a:r>
            <a:endParaRPr lang="en-US" sz="1200" dirty="0"/>
          </a:p>
          <a:p>
            <a:pPr algn="l" indent="0" marL="0">
              <a:lnSpc>
                <a:spcPts val="1800"/>
              </a:lnSpc>
              <a:buNone/>
            </a:pPr>
            <a:r>
              <a:rPr lang="en-US" sz="1200" dirty="0">
                <a:solidFill>
                  <a:srgbClr val="E6E9EE"/>
                </a:solidFill>
                <a:latin typeface="JetBrains Mono" pitchFamily="49" charset="0"/>
                <a:ea typeface="JetBrains Mono" pitchFamily="49" charset="-122"/>
                <a:cs typeface="JetBrains Mono" pitchFamily="49" charset="-120"/>
              </a:rPr>
              <a:t>  return true;</a:t>
            </a:r>
            <a:endParaRPr lang="en-US" sz="1200" dirty="0"/>
          </a:p>
          <a:p>
            <a:pPr algn="l" indent="0" marL="0">
              <a:lnSpc>
                <a:spcPts val="1800"/>
              </a:lnSpc>
              <a:buNone/>
            </a:pPr>
            <a:r>
              <a:rPr lang="en-US" sz="1200" dirty="0">
                <a:solidFill>
                  <a:srgbClr val="E6E9EE"/>
                </a:solidFill>
                <a:latin typeface="JetBrains Mono" pitchFamily="49" charset="0"/>
                <a:ea typeface="JetBrains Mono" pitchFamily="49" charset="-122"/>
                <a:cs typeface="JetBrains Mono" pitchFamily="49" charset="-120"/>
              </a:rPr>
              <a:t>}</a:t>
            </a:r>
            <a:endParaRPr lang="en-US" sz="1200" dirty="0"/>
          </a:p>
        </p:txBody>
      </p:sp>
      <p:sp>
        <p:nvSpPr>
          <p:cNvPr id="5" name="Shape 3"/>
          <p:cNvSpPr/>
          <p:nvPr/>
        </p:nvSpPr>
        <p:spPr>
          <a:xfrm>
            <a:off x="6343650" y="1823641"/>
            <a:ext cx="0" cy="628650"/>
          </a:xfrm>
          <a:prstGeom prst="line">
            <a:avLst/>
          </a:prstGeom>
          <a:noFill/>
          <a:ln w="38100">
            <a:solidFill>
              <a:srgbClr val="A3520C"/>
            </a:solidFill>
            <a:prstDash val="solid"/>
          </a:ln>
        </p:spPr>
      </p:sp>
      <p:sp>
        <p:nvSpPr>
          <p:cNvPr id="6" name="Text 4"/>
          <p:cNvSpPr/>
          <p:nvPr/>
        </p:nvSpPr>
        <p:spPr>
          <a:xfrm>
            <a:off x="6515100" y="1874441"/>
            <a:ext cx="501002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836"/>
                </a:solidFill>
                <a:latin typeface="IBM Plex Sans KR" pitchFamily="34" charset="0"/>
                <a:ea typeface="IBM Plex Sans KR" pitchFamily="34" charset="-122"/>
                <a:cs typeface="IBM Plex Sans KR" pitchFamily="34" charset="-120"/>
              </a:rPr>
              <a:t>첫 목표 / 방향 전환</a:t>
            </a:r>
            <a:endParaRPr lang="en-US" sz="1500" dirty="0"/>
          </a:p>
        </p:txBody>
      </p:sp>
      <p:sp>
        <p:nvSpPr>
          <p:cNvPr id="7" name="Text 5"/>
          <p:cNvSpPr/>
          <p:nvPr/>
        </p:nvSpPr>
        <p:spPr>
          <a:xfrm>
            <a:off x="6515100" y="2153841"/>
            <a:ext cx="5010023"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363"/>
                </a:solidFill>
                <a:latin typeface="IBM Plex Sans KR" pitchFamily="34" charset="0"/>
                <a:ea typeface="IBM Plex Sans KR" pitchFamily="34" charset="-122"/>
                <a:cs typeface="IBM Plex Sans KR" pitchFamily="34" charset="-120"/>
              </a:rPr>
              <a:t>과전류 누적 시간과 grasped를 0으로 리셋</a:t>
            </a:r>
            <a:endParaRPr lang="en-US" sz="1300" dirty="0"/>
          </a:p>
        </p:txBody>
      </p:sp>
      <p:sp>
        <p:nvSpPr>
          <p:cNvPr id="8" name="Shape 6"/>
          <p:cNvSpPr/>
          <p:nvPr/>
        </p:nvSpPr>
        <p:spPr>
          <a:xfrm>
            <a:off x="6343650" y="2604691"/>
            <a:ext cx="0" cy="628650"/>
          </a:xfrm>
          <a:prstGeom prst="line">
            <a:avLst/>
          </a:prstGeom>
          <a:noFill/>
          <a:ln w="38100">
            <a:solidFill>
              <a:srgbClr val="2B5FB8"/>
            </a:solidFill>
            <a:prstDash val="solid"/>
          </a:ln>
        </p:spPr>
      </p:sp>
      <p:sp>
        <p:nvSpPr>
          <p:cNvPr id="9" name="Text 7"/>
          <p:cNvSpPr/>
          <p:nvPr/>
        </p:nvSpPr>
        <p:spPr>
          <a:xfrm>
            <a:off x="6515100" y="2655491"/>
            <a:ext cx="501002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836"/>
                </a:solidFill>
                <a:latin typeface="IBM Plex Sans KR" pitchFamily="34" charset="0"/>
                <a:ea typeface="IBM Plex Sans KR" pitchFamily="34" charset="-122"/>
                <a:cs typeface="IBM Plex Sans KR" pitchFamily="34" charset="-120"/>
              </a:rPr>
              <a:t>같은 명령 반복</a:t>
            </a:r>
            <a:endParaRPr lang="en-US" sz="1500" dirty="0"/>
          </a:p>
        </p:txBody>
      </p:sp>
      <p:sp>
        <p:nvSpPr>
          <p:cNvPr id="10" name="Text 8"/>
          <p:cNvSpPr/>
          <p:nvPr/>
        </p:nvSpPr>
        <p:spPr>
          <a:xfrm>
            <a:off x="6515100" y="2934891"/>
            <a:ext cx="5010023"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363"/>
                </a:solidFill>
                <a:latin typeface="IBM Plex Sans KR" pitchFamily="34" charset="0"/>
                <a:ea typeface="IBM Plex Sans KR" pitchFamily="34" charset="-122"/>
                <a:cs typeface="IBM Plex Sans KR" pitchFamily="34" charset="-120"/>
              </a:rPr>
              <a:t>상태 유지. planning이 “닫기”를 계속 보내도 grasped가 깜빡이지 않음</a:t>
            </a:r>
            <a:endParaRPr lang="en-US" sz="1300" dirty="0"/>
          </a:p>
        </p:txBody>
      </p:sp>
      <p:sp>
        <p:nvSpPr>
          <p:cNvPr id="11" name="Shape 9"/>
          <p:cNvSpPr/>
          <p:nvPr/>
        </p:nvSpPr>
        <p:spPr>
          <a:xfrm>
            <a:off x="6343650" y="3385741"/>
            <a:ext cx="0" cy="628650"/>
          </a:xfrm>
          <a:prstGeom prst="line">
            <a:avLst/>
          </a:prstGeom>
          <a:noFill/>
          <a:ln w="38100">
            <a:solidFill>
              <a:srgbClr val="5F6774"/>
            </a:solidFill>
            <a:prstDash val="solid"/>
          </a:ln>
        </p:spPr>
      </p:sp>
      <p:sp>
        <p:nvSpPr>
          <p:cNvPr id="12" name="Text 10"/>
          <p:cNvSpPr/>
          <p:nvPr/>
        </p:nvSpPr>
        <p:spPr>
          <a:xfrm>
            <a:off x="6515100" y="3436541"/>
            <a:ext cx="5010023"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836"/>
                </a:solidFill>
                <a:latin typeface="IBM Plex Sans KR" pitchFamily="34" charset="0"/>
                <a:ea typeface="IBM Plex Sans KR" pitchFamily="34" charset="-122"/>
                <a:cs typeface="IBM Plex Sans KR" pitchFamily="34" charset="-120"/>
              </a:rPr>
              <a:t>설정 전 호출</a:t>
            </a:r>
            <a:endParaRPr lang="en-US" sz="1500" dirty="0"/>
          </a:p>
        </p:txBody>
      </p:sp>
      <p:sp>
        <p:nvSpPr>
          <p:cNvPr id="13" name="Text 11"/>
          <p:cNvSpPr/>
          <p:nvPr/>
        </p:nvSpPr>
        <p:spPr>
          <a:xfrm>
            <a:off x="6515100" y="3715941"/>
            <a:ext cx="5010023"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4A5363"/>
                </a:solidFill>
                <a:latin typeface="IBM Plex Sans KR" pitchFamily="34" charset="0"/>
                <a:ea typeface="IBM Plex Sans KR" pitchFamily="34" charset="-122"/>
                <a:cs typeface="IBM Plex Sans KR" pitchFamily="34" charset="-120"/>
              </a:rPr>
              <a:t>false 반환 → 구독 콜백이 경고 로그</a:t>
            </a:r>
            <a:endParaRPr lang="en-US" sz="1300" dirty="0"/>
          </a:p>
        </p:txBody>
      </p:sp>
      <p:sp>
        <p:nvSpPr>
          <p:cNvPr id="14" name="Text 12"/>
          <p:cNvSpPr/>
          <p:nvPr/>
        </p:nvSpPr>
        <p:spPr>
          <a:xfrm>
            <a:off x="812800" y="6238280"/>
            <a:ext cx="14402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4"/>
                </a:solidFill>
                <a:latin typeface="IBM Plex Sans KR" pitchFamily="34" charset="0"/>
                <a:ea typeface="IBM Plex Sans KR" pitchFamily="34" charset="-122"/>
                <a:cs typeface="IBM Plex Sans KR" pitchFamily="34" charset="-120"/>
              </a:rPr>
              <a:t>GripperController</a:t>
            </a:r>
            <a:endParaRPr lang="en-US" sz="1200" dirty="0"/>
          </a:p>
        </p:txBody>
      </p:sp>
      <p:sp>
        <p:nvSpPr>
          <p:cNvPr id="15" name="Text 13"/>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4"/>
                </a:solidFill>
                <a:latin typeface="IBM Plex Sans KR" pitchFamily="34" charset="0"/>
                <a:ea typeface="IBM Plex Sans KR" pitchFamily="34" charset="-122"/>
                <a:cs typeface="IBM Plex Sans KR"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520C"/>
                </a:solidFill>
                <a:latin typeface="IBM Plex Sans KR" pitchFamily="34" charset="0"/>
                <a:ea typeface="IBM Plex Sans KR" pitchFamily="34" charset="-122"/>
                <a:cs typeface="IBM Plex Sans KR" pitchFamily="34" charset="-120"/>
              </a:rPr>
              <a:t>각도 명령</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2836"/>
                </a:solidFill>
                <a:latin typeface="IBM Plex Sans KR" pitchFamily="34" charset="0"/>
                <a:ea typeface="IBM Plex Sans KR" pitchFamily="34" charset="-122"/>
                <a:cs typeface="IBM Plex Sans KR" pitchFamily="34" charset="-120"/>
              </a:rPr>
              <a:t>모르면 제자리, 알면 범위 안으로</a:t>
            </a:r>
            <a:endParaRPr lang="en-US" sz="3200" dirty="0"/>
          </a:p>
        </p:txBody>
      </p:sp>
      <p:sp>
        <p:nvSpPr>
          <p:cNvPr id="4" name="Shape 2"/>
          <p:cNvSpPr/>
          <p:nvPr/>
        </p:nvSpPr>
        <p:spPr>
          <a:xfrm>
            <a:off x="815975" y="1826816"/>
            <a:ext cx="5149850" cy="2787187"/>
          </a:xfrm>
          <a:prstGeom prst="roundRect">
            <a:avLst>
              <a:gd name="adj" fmla="val 3531"/>
            </a:avLst>
          </a:prstGeom>
          <a:solidFill>
            <a:srgbClr val="FDFCF9"/>
          </a:solidFill>
          <a:ln w="6350">
            <a:solidFill>
              <a:srgbClr val="D9D5CB"/>
            </a:solidFill>
            <a:prstDash val="solid"/>
          </a:ln>
        </p:spPr>
      </p:sp>
      <p:sp>
        <p:nvSpPr>
          <p:cNvPr id="5" name="Text 3"/>
          <p:cNvSpPr/>
          <p:nvPr/>
        </p:nvSpPr>
        <p:spPr>
          <a:xfrm>
            <a:off x="1020233" y="2031076"/>
            <a:ext cx="488357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2836"/>
                </a:solidFill>
                <a:latin typeface="JetBrains Mono" pitchFamily="49" charset="0"/>
                <a:ea typeface="JetBrains Mono" pitchFamily="49" charset="-122"/>
                <a:cs typeface="JetBrains Mono" pitchFamily="49" charset="-120"/>
              </a:rPr>
              <a:t>compute_gripper_command()</a:t>
            </a:r>
            <a:endParaRPr lang="en-US" sz="1400" dirty="0"/>
          </a:p>
        </p:txBody>
      </p:sp>
      <p:sp>
        <p:nvSpPr>
          <p:cNvPr id="6" name="Text 4"/>
          <p:cNvSpPr/>
          <p:nvPr/>
        </p:nvSpPr>
        <p:spPr>
          <a:xfrm>
            <a:off x="1020233" y="2371396"/>
            <a:ext cx="4741333" cy="1168400"/>
          </a:xfrm>
          <a:prstGeom prst="roundRect">
            <a:avLst>
              <a:gd name="adj" fmla="val 6522"/>
            </a:avLst>
          </a:prstGeom>
          <a:solidFill>
            <a:srgbClr val="16202E"/>
          </a:solidFill>
          <a:ln/>
        </p:spPr>
        <p:txBody>
          <a:bodyPr wrap="square" lIns="130082" tIns="104682" rIns="0" bIns="79282" rtlCol="0" anchor="t">
            <a:normAutofit/>
          </a:bodyPr>
          <a:lstStyle/>
          <a:p>
            <a:pPr algn="l" indent="0" marL="0">
              <a:lnSpc>
                <a:spcPts val="1800"/>
              </a:lnSpc>
              <a:buNone/>
            </a:pPr>
            <a:r>
              <a:rPr lang="en-US" sz="1200" dirty="0">
                <a:solidFill>
                  <a:srgbClr val="E6E9EE"/>
                </a:solidFill>
                <a:latin typeface="JetBrains Mono" pitchFamily="49" charset="0"/>
                <a:ea typeface="JetBrains Mono" pitchFamily="49" charset="-122"/>
                <a:cs typeface="JetBrains Mono" pitchFamily="49" charset="-120"/>
              </a:rPr>
              <a:t>if (!configured_) return current;</a:t>
            </a:r>
            <a:endParaRPr lang="en-US" sz="1200" dirty="0"/>
          </a:p>
          <a:p>
            <a:pPr algn="l" indent="0" marL="0">
              <a:lnSpc>
                <a:spcPts val="1800"/>
              </a:lnSpc>
              <a:buNone/>
            </a:pPr>
            <a:r>
              <a:rPr lang="en-US" sz="1200" dirty="0">
                <a:solidFill>
                  <a:srgbClr val="E6E9EE"/>
                </a:solidFill>
                <a:latin typeface="JetBrains Mono" pitchFamily="49" charset="0"/>
                <a:ea typeface="JetBrains Mono" pitchFamily="49" charset="-122"/>
                <a:cs typeface="JetBrains Mono" pitchFamily="49" charset="-120"/>
              </a:rPr>
              <a:t>req = has_target_ ? target_angle_</a:t>
            </a:r>
            <a:endParaRPr lang="en-US" sz="1200" dirty="0"/>
          </a:p>
          <a:p>
            <a:pPr algn="l" indent="0" marL="0">
              <a:lnSpc>
                <a:spcPts val="1800"/>
              </a:lnSpc>
              <a:buNone/>
            </a:pPr>
            <a:r>
              <a:rPr lang="en-US" sz="1200" dirty="0">
                <a:solidFill>
                  <a:srgbClr val="E6E9EE"/>
                </a:solidFill>
                <a:latin typeface="JetBrains Mono" pitchFamily="49" charset="0"/>
                <a:ea typeface="JetBrains Mono" pitchFamily="49" charset="-122"/>
                <a:cs typeface="JetBrains Mono" pitchFamily="49" charset="-120"/>
              </a:rPr>
              <a:t>                : current;</a:t>
            </a:r>
            <a:endParaRPr lang="en-US" sz="1200" dirty="0"/>
          </a:p>
          <a:p>
            <a:pPr algn="l" indent="0" marL="0">
              <a:lnSpc>
                <a:spcPts val="1800"/>
              </a:lnSpc>
              <a:buNone/>
            </a:pPr>
            <a:r>
              <a:rPr lang="en-US" sz="1200" dirty="0">
                <a:solidFill>
                  <a:srgbClr val="E6E9EE"/>
                </a:solidFill>
                <a:latin typeface="JetBrains Mono" pitchFamily="49" charset="0"/>
                <a:ea typeface="JetBrains Mono" pitchFamily="49" charset="-122"/>
                <a:cs typeface="JetBrains Mono" pitchFamily="49" charset="-120"/>
              </a:rPr>
              <a:t>return clamp(req, min_, max_);</a:t>
            </a:r>
            <a:endParaRPr lang="en-US" sz="1200" dirty="0"/>
          </a:p>
        </p:txBody>
      </p:sp>
      <p:sp>
        <p:nvSpPr>
          <p:cNvPr id="7" name="Text 5"/>
          <p:cNvSpPr/>
          <p:nvPr/>
        </p:nvSpPr>
        <p:spPr>
          <a:xfrm>
            <a:off x="1105577" y="3666796"/>
            <a:ext cx="4790609" cy="76835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dirty="0">
                <a:solidFill>
                  <a:srgbClr val="4A5363"/>
                </a:solidFill>
                <a:latin typeface="IBM Plex Sans KR" pitchFamily="34" charset="0"/>
                <a:ea typeface="IBM Plex Sans KR" pitchFamily="34" charset="-122"/>
                <a:cs typeface="IBM Plex Sans KR" pitchFamily="34" charset="-120"/>
              </a:rPr>
              <a:t>설정 전 → 현재 각도 그대로</a:t>
            </a:r>
            <a:endParaRPr lang="en-US" sz="1300" dirty="0"/>
          </a:p>
          <a:p>
            <a:pPr algn="l" marL="168656" indent="-168656">
              <a:lnSpc>
                <a:spcPts val="1950"/>
              </a:lnSpc>
              <a:buSzPct val="100000"/>
              <a:buChar char="•"/>
            </a:pPr>
            <a:r>
              <a:rPr lang="en-US" sz="1300" dirty="0">
                <a:solidFill>
                  <a:srgbClr val="4A5363"/>
                </a:solidFill>
                <a:latin typeface="IBM Plex Sans KR" pitchFamily="34" charset="0"/>
                <a:ea typeface="IBM Plex Sans KR" pitchFamily="34" charset="-122"/>
                <a:cs typeface="IBM Plex Sans KR" pitchFamily="34" charset="-120"/>
              </a:rPr>
              <a:t>목표 없음 → 현재 각도 (움직이지 않음)</a:t>
            </a:r>
            <a:endParaRPr lang="en-US" sz="1300" dirty="0"/>
          </a:p>
          <a:p>
            <a:pPr algn="l" marL="168656" indent="-168656">
              <a:lnSpc>
                <a:spcPts val="1950"/>
              </a:lnSpc>
              <a:buSzPct val="100000"/>
              <a:buChar char="•"/>
            </a:pPr>
            <a:r>
              <a:rPr lang="en-US" sz="1300" dirty="0">
                <a:solidFill>
                  <a:srgbClr val="4A5363"/>
                </a:solidFill>
                <a:latin typeface="IBM Plex Sans KR" pitchFamily="34" charset="0"/>
                <a:ea typeface="IBM Plex Sans KR" pitchFamily="34" charset="-122"/>
                <a:cs typeface="IBM Plex Sans KR" pitchFamily="34" charset="-120"/>
              </a:rPr>
              <a:t>항상 [min, max]로 clamp</a:t>
            </a:r>
            <a:endParaRPr lang="en-US" sz="1300" dirty="0"/>
          </a:p>
        </p:txBody>
      </p:sp>
      <p:sp>
        <p:nvSpPr>
          <p:cNvPr id="8" name="Shape 6"/>
          <p:cNvSpPr/>
          <p:nvPr/>
        </p:nvSpPr>
        <p:spPr>
          <a:xfrm>
            <a:off x="6226175" y="1826816"/>
            <a:ext cx="5149850" cy="2787187"/>
          </a:xfrm>
          <a:prstGeom prst="roundRect">
            <a:avLst>
              <a:gd name="adj" fmla="val 3531"/>
            </a:avLst>
          </a:prstGeom>
          <a:solidFill>
            <a:srgbClr val="FDFCF9"/>
          </a:solidFill>
          <a:ln w="6350">
            <a:solidFill>
              <a:srgbClr val="D9D5CB"/>
            </a:solidFill>
            <a:prstDash val="solid"/>
          </a:ln>
        </p:spPr>
      </p:sp>
      <p:sp>
        <p:nvSpPr>
          <p:cNvPr id="9" name="Text 7"/>
          <p:cNvSpPr/>
          <p:nvPr/>
        </p:nvSpPr>
        <p:spPr>
          <a:xfrm>
            <a:off x="6430433" y="2031076"/>
            <a:ext cx="4883573"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E2836"/>
                </a:solidFill>
                <a:latin typeface="JetBrains Mono" pitchFamily="49" charset="0"/>
                <a:ea typeface="JetBrains Mono" pitchFamily="49" charset="-122"/>
                <a:cs typeface="JetBrains Mono" pitchFamily="49" charset="-120"/>
              </a:rPr>
              <a:t>is_target_reached()</a:t>
            </a:r>
            <a:endParaRPr lang="en-US" sz="1400" dirty="0"/>
          </a:p>
        </p:txBody>
      </p:sp>
      <p:sp>
        <p:nvSpPr>
          <p:cNvPr id="10" name="Text 8"/>
          <p:cNvSpPr/>
          <p:nvPr/>
        </p:nvSpPr>
        <p:spPr>
          <a:xfrm>
            <a:off x="6430433" y="2371396"/>
            <a:ext cx="4741333" cy="482600"/>
          </a:xfrm>
          <a:prstGeom prst="roundRect">
            <a:avLst>
              <a:gd name="adj" fmla="val 15789"/>
            </a:avLst>
          </a:prstGeom>
          <a:solidFill>
            <a:srgbClr val="16202E"/>
          </a:solidFill>
          <a:ln/>
        </p:spPr>
        <p:txBody>
          <a:bodyPr wrap="square" lIns="130082" tIns="104682" rIns="0" bIns="79282" rtlCol="0" anchor="t">
            <a:normAutofit/>
          </a:bodyPr>
          <a:lstStyle/>
          <a:p>
            <a:pPr algn="l" indent="0" marL="0">
              <a:lnSpc>
                <a:spcPts val="1800"/>
              </a:lnSpc>
              <a:buNone/>
            </a:pPr>
            <a:r>
              <a:rPr lang="en-US" sz="1200" dirty="0">
                <a:solidFill>
                  <a:srgbClr val="E6E9EE"/>
                </a:solidFill>
                <a:latin typeface="JetBrains Mono" pitchFamily="49" charset="0"/>
                <a:ea typeface="JetBrains Mono" pitchFamily="49" charset="-122"/>
                <a:cs typeface="JetBrains Mono" pitchFamily="49" charset="-120"/>
              </a:rPr>
              <a:t>|angle − target_angle_| ≤ tol</a:t>
            </a:r>
            <a:endParaRPr lang="en-US" sz="1200" dirty="0"/>
          </a:p>
        </p:txBody>
      </p:sp>
      <p:sp>
        <p:nvSpPr>
          <p:cNvPr id="11" name="Text 9"/>
          <p:cNvSpPr/>
          <p:nvPr/>
        </p:nvSpPr>
        <p:spPr>
          <a:xfrm>
            <a:off x="6515777" y="2980996"/>
            <a:ext cx="4790609" cy="768350"/>
          </a:xfrm>
          <a:prstGeom prst="rect">
            <a:avLst/>
          </a:prstGeom>
          <a:noFill/>
          <a:ln/>
        </p:spPr>
        <p:txBody>
          <a:bodyPr wrap="square" lIns="0" tIns="0" rIns="0" bIns="0" rtlCol="0" anchor="t">
            <a:normAutofit/>
          </a:bodyPr>
          <a:lstStyle/>
          <a:p>
            <a:pPr algn="l" marL="168656" indent="-168656">
              <a:lnSpc>
                <a:spcPts val="1950"/>
              </a:lnSpc>
              <a:buSzPct val="100000"/>
              <a:buChar char="•"/>
            </a:pPr>
            <a:r>
              <a:rPr lang="en-US" sz="1300" dirty="0">
                <a:solidFill>
                  <a:srgbClr val="4A5363"/>
                </a:solidFill>
                <a:latin typeface="IBM Plex Sans KR" pitchFamily="34" charset="0"/>
                <a:ea typeface="IBM Plex Sans KR" pitchFamily="34" charset="-122"/>
                <a:cs typeface="IBM Plex Sans KR" pitchFamily="34" charset="-120"/>
              </a:rPr>
              <a:t>설정 전 · 목표 없음 → false</a:t>
            </a:r>
            <a:endParaRPr lang="en-US" sz="1300" dirty="0"/>
          </a:p>
          <a:p>
            <a:pPr algn="l" marL="168656" indent="-168656">
              <a:lnSpc>
                <a:spcPts val="1950"/>
              </a:lnSpc>
              <a:buSzPct val="100000"/>
              <a:buChar char="•"/>
            </a:pPr>
            <a:r>
              <a:rPr lang="en-US" sz="1300" dirty="0">
                <a:solidFill>
                  <a:srgbClr val="4A5363"/>
                </a:solidFill>
                <a:latin typeface="IBM Plex Sans KR" pitchFamily="34" charset="0"/>
                <a:ea typeface="IBM Plex Sans KR" pitchFamily="34" charset="-122"/>
                <a:cs typeface="IBM Plex Sans KR" pitchFamily="34" charset="-120"/>
              </a:rPr>
              <a:t>NaN 각도, 음수 tol → false</a:t>
            </a:r>
            <a:endParaRPr lang="en-US" sz="1300" dirty="0"/>
          </a:p>
          <a:p>
            <a:pPr algn="l" marL="168656" indent="-168656">
              <a:lnSpc>
                <a:spcPts val="1950"/>
              </a:lnSpc>
              <a:buSzPct val="100000"/>
              <a:buChar char="•"/>
            </a:pPr>
            <a:r>
              <a:rPr lang="en-US" sz="1300" dirty="0">
                <a:solidFill>
                  <a:srgbClr val="A3520C"/>
                </a:solidFill>
                <a:latin typeface="IBM Plex Sans KR" pitchFamily="34" charset="0"/>
                <a:ea typeface="IBM Plex Sans KR" pitchFamily="34" charset="-122"/>
                <a:cs typeface="IBM Plex Sans KR" pitchFamily="34" charset="-120"/>
              </a:rPr>
              <a:t>control_master에서 아직 호출하지 않음</a:t>
            </a:r>
            <a:endParaRPr lang="en-US" sz="1300" dirty="0"/>
          </a:p>
        </p:txBody>
      </p:sp>
      <p:sp>
        <p:nvSpPr>
          <p:cNvPr id="12" name="Text 10"/>
          <p:cNvSpPr/>
          <p:nvPr/>
        </p:nvSpPr>
        <p:spPr>
          <a:xfrm>
            <a:off x="812800" y="6238280"/>
            <a:ext cx="14402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4"/>
                </a:solidFill>
                <a:latin typeface="IBM Plex Sans KR" pitchFamily="34" charset="0"/>
                <a:ea typeface="IBM Plex Sans KR" pitchFamily="34" charset="-122"/>
                <a:cs typeface="IBM Plex Sans KR" pitchFamily="34" charset="-120"/>
              </a:rPr>
              <a:t>GripperController</a:t>
            </a:r>
            <a:endParaRPr lang="en-US" sz="1200" dirty="0"/>
          </a:p>
        </p:txBody>
      </p:sp>
      <p:sp>
        <p:nvSpPr>
          <p:cNvPr id="13" name="Text 11"/>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4"/>
                </a:solidFill>
                <a:latin typeface="IBM Plex Sans KR" pitchFamily="34" charset="0"/>
                <a:ea typeface="IBM Plex Sans KR" pitchFamily="34" charset="-122"/>
                <a:cs typeface="IBM Plex Sans KR"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520C"/>
                </a:solidFill>
                <a:latin typeface="IBM Plex Sans KR" pitchFamily="34" charset="0"/>
                <a:ea typeface="IBM Plex Sans KR" pitchFamily="34" charset="-122"/>
                <a:cs typeface="IBM Plex Sans KR" pitchFamily="34" charset="-120"/>
              </a:rPr>
              <a:t>update_current_feedback()</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2836"/>
                </a:solidFill>
                <a:latin typeface="IBM Plex Sans KR" pitchFamily="34" charset="0"/>
                <a:ea typeface="IBM Plex Sans KR" pitchFamily="34" charset="-122"/>
                <a:cs typeface="IBM Plex Sans KR" pitchFamily="34" charset="-120"/>
              </a:rPr>
              <a:t>과전류가 debounce 이상 지속되면 “잡았다”</a:t>
            </a:r>
            <a:endParaRPr lang="en-US" sz="3200" dirty="0"/>
          </a:p>
        </p:txBody>
      </p:sp>
      <p:pic>
        <p:nvPicPr>
          <p:cNvPr id="4" name="Image 0" descr="모터 전류 그래프: 짧은 스파이크는 무시되고, 임계값을 debounce 시간 이상 넘으면 grasped가 참이 된다">    </p:cNvPr>
          <p:cNvPicPr>
            <a:picLocks noChangeAspect="1"/>
          </p:cNvPicPr>
          <p:nvPr/>
        </p:nvPicPr>
        <p:blipFill>
          <a:blip r:embed="rId1"/>
          <a:srcRect l="0" r="0" t="-65" b="-65"/>
          <a:stretch/>
        </p:blipFill>
        <p:spPr>
          <a:xfrm>
            <a:off x="812800" y="1772841"/>
            <a:ext cx="10566400" cy="1524000"/>
          </a:xfrm>
          <a:prstGeom prst="rect">
            <a:avLst/>
          </a:prstGeom>
        </p:spPr>
      </p:pic>
      <p:sp>
        <p:nvSpPr>
          <p:cNvPr id="5" name="Text 2"/>
          <p:cNvSpPr/>
          <p:nvPr/>
        </p:nvSpPr>
        <p:spPr>
          <a:xfrm>
            <a:off x="2908300" y="2395141"/>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4"/>
                </a:solidFill>
                <a:latin typeface="IBM Plex Sans KR" pitchFamily="34" charset="0"/>
                <a:ea typeface="IBM Plex Sans KR" pitchFamily="34" charset="-122"/>
                <a:cs typeface="IBM Plex Sans KR" pitchFamily="34" charset="-120"/>
              </a:rPr>
              <a:t>threshold</a:t>
            </a:r>
            <a:endParaRPr lang="en-US" sz="1200" dirty="0"/>
          </a:p>
        </p:txBody>
      </p:sp>
      <p:sp>
        <p:nvSpPr>
          <p:cNvPr id="6" name="Text 3"/>
          <p:cNvSpPr/>
          <p:nvPr/>
        </p:nvSpPr>
        <p:spPr>
          <a:xfrm>
            <a:off x="1765300" y="1849041"/>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B5FB8"/>
                </a:solidFill>
                <a:latin typeface="IBM Plex Sans KR" pitchFamily="34" charset="0"/>
                <a:ea typeface="IBM Plex Sans KR" pitchFamily="34" charset="-122"/>
                <a:cs typeface="IBM Plex Sans KR" pitchFamily="34" charset="-120"/>
              </a:rPr>
              <a:t>짧은 스파이크</a:t>
            </a:r>
            <a:endParaRPr lang="en-US" sz="1200" dirty="0"/>
          </a:p>
        </p:txBody>
      </p:sp>
      <p:sp>
        <p:nvSpPr>
          <p:cNvPr id="7" name="Text 4"/>
          <p:cNvSpPr/>
          <p:nvPr/>
        </p:nvSpPr>
        <p:spPr>
          <a:xfrm>
            <a:off x="5511800" y="2661841"/>
            <a:ext cx="1574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836"/>
                </a:solidFill>
                <a:latin typeface="IBM Plex Sans KR" pitchFamily="34" charset="0"/>
                <a:ea typeface="IBM Plex Sans KR" pitchFamily="34" charset="-122"/>
                <a:cs typeface="IBM Plex Sans KR" pitchFamily="34" charset="-120"/>
              </a:rPr>
              <a:t>debounce</a:t>
            </a:r>
            <a:endParaRPr lang="en-US" sz="1200" dirty="0"/>
          </a:p>
        </p:txBody>
      </p:sp>
      <p:sp>
        <p:nvSpPr>
          <p:cNvPr id="8" name="Text 5"/>
          <p:cNvSpPr/>
          <p:nvPr/>
        </p:nvSpPr>
        <p:spPr>
          <a:xfrm>
            <a:off x="7797800" y="2534841"/>
            <a:ext cx="2616200"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3520C"/>
                </a:solidFill>
                <a:latin typeface="IBM Plex Sans KR" pitchFamily="34" charset="0"/>
                <a:ea typeface="IBM Plex Sans KR" pitchFamily="34" charset="-122"/>
                <a:cs typeface="IBM Plex Sans KR" pitchFamily="34" charset="-120"/>
              </a:rPr>
              <a:t>grasped = true</a:t>
            </a:r>
            <a:endParaRPr lang="en-US" sz="1400" dirty="0"/>
          </a:p>
        </p:txBody>
      </p:sp>
      <p:sp>
        <p:nvSpPr>
          <p:cNvPr id="9" name="Text 6"/>
          <p:cNvSpPr/>
          <p:nvPr/>
        </p:nvSpPr>
        <p:spPr>
          <a:xfrm>
            <a:off x="10160000" y="3017441"/>
            <a:ext cx="12192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4"/>
                </a:solidFill>
                <a:latin typeface="IBM Plex Sans KR" pitchFamily="34" charset="0"/>
                <a:ea typeface="IBM Plex Sans KR" pitchFamily="34" charset="-122"/>
                <a:cs typeface="IBM Plex Sans KR" pitchFamily="34" charset="-120"/>
              </a:rPr>
              <a:t>시간 →</a:t>
            </a:r>
            <a:endParaRPr lang="en-US" sz="1200" dirty="0"/>
          </a:p>
        </p:txBody>
      </p:sp>
      <p:sp>
        <p:nvSpPr>
          <p:cNvPr id="10" name="Shape 7"/>
          <p:cNvSpPr/>
          <p:nvPr/>
        </p:nvSpPr>
        <p:spPr>
          <a:xfrm>
            <a:off x="815975" y="3503216"/>
            <a:ext cx="3380317" cy="1048544"/>
          </a:xfrm>
          <a:prstGeom prst="roundRect">
            <a:avLst>
              <a:gd name="adj" fmla="val 9387"/>
            </a:avLst>
          </a:prstGeom>
          <a:solidFill>
            <a:srgbClr val="FDFCF9"/>
          </a:solidFill>
          <a:ln w="6350">
            <a:solidFill>
              <a:srgbClr val="D9D5CB"/>
            </a:solidFill>
            <a:prstDash val="solid"/>
          </a:ln>
        </p:spPr>
      </p:sp>
      <p:sp>
        <p:nvSpPr>
          <p:cNvPr id="11" name="Text 8"/>
          <p:cNvSpPr/>
          <p:nvPr/>
        </p:nvSpPr>
        <p:spPr>
          <a:xfrm>
            <a:off x="994833" y="3656676"/>
            <a:ext cx="31132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836"/>
                </a:solidFill>
                <a:latin typeface="IBM Plex Sans KR" pitchFamily="34" charset="0"/>
                <a:ea typeface="IBM Plex Sans KR" pitchFamily="34" charset="-122"/>
                <a:cs typeface="IBM Plex Sans KR" pitchFamily="34" charset="-120"/>
              </a:rPr>
              <a:t>짧은 스파이크</a:t>
            </a:r>
            <a:endParaRPr lang="en-US" sz="1500" dirty="0"/>
          </a:p>
        </p:txBody>
      </p:sp>
      <p:sp>
        <p:nvSpPr>
          <p:cNvPr id="12" name="Text 9"/>
          <p:cNvSpPr/>
          <p:nvPr/>
        </p:nvSpPr>
        <p:spPr>
          <a:xfrm>
            <a:off x="994833" y="3936076"/>
            <a:ext cx="3113278"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누적 &lt; debounce → 무시</a:t>
            </a:r>
            <a:endParaRPr lang="en-US" sz="1300" dirty="0"/>
          </a:p>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(기동 전류 같은 순간 피크)</a:t>
            </a:r>
            <a:endParaRPr lang="en-US" sz="1300" dirty="0"/>
          </a:p>
        </p:txBody>
      </p:sp>
      <p:sp>
        <p:nvSpPr>
          <p:cNvPr id="13" name="Shape 10"/>
          <p:cNvSpPr/>
          <p:nvPr/>
        </p:nvSpPr>
        <p:spPr>
          <a:xfrm>
            <a:off x="4405842" y="3503216"/>
            <a:ext cx="3380317" cy="1048544"/>
          </a:xfrm>
          <a:prstGeom prst="roundRect">
            <a:avLst>
              <a:gd name="adj" fmla="val 9387"/>
            </a:avLst>
          </a:prstGeom>
          <a:solidFill>
            <a:srgbClr val="FDFCF9"/>
          </a:solidFill>
          <a:ln w="6350">
            <a:solidFill>
              <a:srgbClr val="D9D5CB"/>
            </a:solidFill>
            <a:prstDash val="solid"/>
          </a:ln>
        </p:spPr>
      </p:sp>
      <p:sp>
        <p:nvSpPr>
          <p:cNvPr id="14" name="Text 11"/>
          <p:cNvSpPr/>
          <p:nvPr/>
        </p:nvSpPr>
        <p:spPr>
          <a:xfrm>
            <a:off x="4584700" y="3656676"/>
            <a:ext cx="31132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836"/>
                </a:solidFill>
                <a:latin typeface="IBM Plex Sans KR" pitchFamily="34" charset="0"/>
                <a:ea typeface="IBM Plex Sans KR" pitchFamily="34" charset="-122"/>
                <a:cs typeface="IBM Plex Sans KR" pitchFamily="34" charset="-120"/>
              </a:rPr>
              <a:t>지속 과전류</a:t>
            </a:r>
            <a:endParaRPr lang="en-US" sz="1500" dirty="0"/>
          </a:p>
        </p:txBody>
      </p:sp>
      <p:sp>
        <p:nvSpPr>
          <p:cNvPr id="15" name="Text 12"/>
          <p:cNvSpPr/>
          <p:nvPr/>
        </p:nvSpPr>
        <p:spPr>
          <a:xfrm>
            <a:off x="4584700" y="3936076"/>
            <a:ext cx="3113278"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overcurrent_time_ += dt</a:t>
            </a:r>
            <a:endParaRPr lang="en-US" sz="1300" dirty="0"/>
          </a:p>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 debounce → grasped = true</a:t>
            </a:r>
            <a:endParaRPr lang="en-US" sz="1300" dirty="0"/>
          </a:p>
        </p:txBody>
      </p:sp>
      <p:sp>
        <p:nvSpPr>
          <p:cNvPr id="16" name="Shape 13"/>
          <p:cNvSpPr/>
          <p:nvPr/>
        </p:nvSpPr>
        <p:spPr>
          <a:xfrm>
            <a:off x="7995709" y="3503216"/>
            <a:ext cx="3380317" cy="1048544"/>
          </a:xfrm>
          <a:prstGeom prst="roundRect">
            <a:avLst>
              <a:gd name="adj" fmla="val 9387"/>
            </a:avLst>
          </a:prstGeom>
          <a:solidFill>
            <a:srgbClr val="FDFCF9"/>
          </a:solidFill>
          <a:ln w="6350">
            <a:solidFill>
              <a:srgbClr val="D9D5CB"/>
            </a:solidFill>
            <a:prstDash val="solid"/>
          </a:ln>
        </p:spPr>
      </p:sp>
      <p:sp>
        <p:nvSpPr>
          <p:cNvPr id="17" name="Text 14"/>
          <p:cNvSpPr/>
          <p:nvPr/>
        </p:nvSpPr>
        <p:spPr>
          <a:xfrm>
            <a:off x="8174567" y="3656676"/>
            <a:ext cx="3113278"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836"/>
                </a:solidFill>
                <a:latin typeface="IBM Plex Sans KR" pitchFamily="34" charset="0"/>
                <a:ea typeface="IBM Plex Sans KR" pitchFamily="34" charset="-122"/>
                <a:cs typeface="IBM Plex Sans KR" pitchFamily="34" charset="-120"/>
              </a:rPr>
              <a:t>임계 아래로 하락</a:t>
            </a:r>
            <a:endParaRPr lang="en-US" sz="1500" dirty="0"/>
          </a:p>
        </p:txBody>
      </p:sp>
      <p:sp>
        <p:nvSpPr>
          <p:cNvPr id="18" name="Text 15"/>
          <p:cNvSpPr/>
          <p:nvPr/>
        </p:nvSpPr>
        <p:spPr>
          <a:xfrm>
            <a:off x="8174567" y="3936076"/>
            <a:ext cx="3113278" cy="487627"/>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누적 0으로 리셋</a:t>
            </a:r>
            <a:endParaRPr lang="en-US" sz="1300" dirty="0"/>
          </a:p>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grasped 즉시 false</a:t>
            </a:r>
            <a:endParaRPr lang="en-US" sz="1300" dirty="0"/>
          </a:p>
        </p:txBody>
      </p:sp>
      <p:sp>
        <p:nvSpPr>
          <p:cNvPr id="19" name="Text 16"/>
          <p:cNvSpPr/>
          <p:nvPr/>
        </p:nvSpPr>
        <p:spPr>
          <a:xfrm>
            <a:off x="812800" y="4758134"/>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4A5363"/>
                </a:solidFill>
                <a:latin typeface="IBM Plex Sans KR" pitchFamily="34" charset="0"/>
                <a:ea typeface="IBM Plex Sans KR" pitchFamily="34" charset="-122"/>
                <a:cs typeface="IBM Plex Sans KR" pitchFamily="34" charset="-120"/>
              </a:rPr>
              <a:t>감지 조건:</a:t>
            </a:r>
            <a:r>
              <a:rPr lang="en-US" sz="1300" dirty="0">
                <a:solidFill>
                  <a:srgbClr val="4A5363"/>
                </a:solidFill>
                <a:latin typeface="IBM Plex Sans KR" pitchFamily="34" charset="0"/>
                <a:ea typeface="IBM Plex Sans KR" pitchFamily="34" charset="-122"/>
                <a:cs typeface="IBM Plex Sans KR" pitchFamily="34" charset="-120"/>
              </a:rPr>
              <a:t> 닫는 중 · 감지 활성 · 전류와 dt가 유한 · dt &gt; 0 (아니면 아무것도 안 함)</a:t>
            </a:r>
            <a:endParaRPr lang="en-US" sz="1300" dirty="0"/>
          </a:p>
        </p:txBody>
      </p:sp>
      <p:sp>
        <p:nvSpPr>
          <p:cNvPr id="20" name="Text 17"/>
          <p:cNvSpPr/>
          <p:nvPr/>
        </p:nvSpPr>
        <p:spPr>
          <a:xfrm>
            <a:off x="812800" y="6238280"/>
            <a:ext cx="14402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4"/>
                </a:solidFill>
                <a:latin typeface="IBM Plex Sans KR" pitchFamily="34" charset="0"/>
                <a:ea typeface="IBM Plex Sans KR" pitchFamily="34" charset="-122"/>
                <a:cs typeface="IBM Plex Sans KR" pitchFamily="34" charset="-120"/>
              </a:rPr>
              <a:t>GripperController</a:t>
            </a:r>
            <a:endParaRPr lang="en-US" sz="1200" dirty="0"/>
          </a:p>
        </p:txBody>
      </p:sp>
      <p:sp>
        <p:nvSpPr>
          <p:cNvPr id="21" name="Text 18"/>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4"/>
                </a:solidFill>
                <a:latin typeface="IBM Plex Sans KR" pitchFamily="34" charset="0"/>
                <a:ea typeface="IBM Plex Sans KR" pitchFamily="34" charset="-122"/>
                <a:cs typeface="IBM Plex Sans KR"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AE7D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520C"/>
                </a:solidFill>
                <a:latin typeface="IBM Plex Sans KR" pitchFamily="34" charset="0"/>
                <a:ea typeface="IBM Plex Sans KR" pitchFamily="34" charset="-122"/>
                <a:cs typeface="IBM Plex Sans KR" pitchFamily="34" charset="-120"/>
              </a:rPr>
              <a:t>control_master 통합</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2836"/>
                </a:solidFill>
                <a:latin typeface="IBM Plex Sans KR" pitchFamily="34" charset="0"/>
                <a:ea typeface="IBM Plex Sans KR" pitchFamily="34" charset="-122"/>
                <a:cs typeface="IBM Plex Sans KR" pitchFamily="34" charset="-120"/>
              </a:rPr>
              <a:t>20 ms 제어 주기 안에서의 호출 순서</a:t>
            </a:r>
            <a:endParaRPr lang="en-US" sz="3200" dirty="0"/>
          </a:p>
        </p:txBody>
      </p:sp>
      <p:sp>
        <p:nvSpPr>
          <p:cNvPr id="4" name="Shape 2"/>
          <p:cNvSpPr/>
          <p:nvPr/>
        </p:nvSpPr>
        <p:spPr>
          <a:xfrm>
            <a:off x="812800" y="1823641"/>
            <a:ext cx="10566400" cy="802614"/>
          </a:xfrm>
          <a:prstGeom prst="roundRect">
            <a:avLst>
              <a:gd name="adj" fmla="val 12659"/>
            </a:avLst>
          </a:prstGeom>
          <a:solidFill>
            <a:srgbClr val="FDFCF9"/>
          </a:solidFill>
          <a:ln/>
        </p:spPr>
      </p:sp>
      <p:sp>
        <p:nvSpPr>
          <p:cNvPr id="5" name="Text 3"/>
          <p:cNvSpPr/>
          <p:nvPr/>
        </p:nvSpPr>
        <p:spPr>
          <a:xfrm>
            <a:off x="1016000" y="2029355"/>
            <a:ext cx="5080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3520C"/>
                </a:solidFill>
                <a:latin typeface="JetBrains Mono" pitchFamily="49" charset="0"/>
                <a:ea typeface="JetBrains Mono" pitchFamily="49" charset="-122"/>
                <a:cs typeface="JetBrains Mono" pitchFamily="49" charset="-120"/>
              </a:rPr>
              <a:t>0</a:t>
            </a:r>
            <a:endParaRPr lang="en-US" sz="2200" dirty="0"/>
          </a:p>
        </p:txBody>
      </p:sp>
      <p:sp>
        <p:nvSpPr>
          <p:cNvPr id="6" name="Text 4"/>
          <p:cNvSpPr/>
          <p:nvPr/>
        </p:nvSpPr>
        <p:spPr>
          <a:xfrm>
            <a:off x="1676400" y="1963341"/>
            <a:ext cx="978458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2836"/>
                </a:solidFill>
                <a:latin typeface="IBM Plex Sans KR" pitchFamily="34" charset="0"/>
                <a:ea typeface="IBM Plex Sans KR" pitchFamily="34" charset="-122"/>
                <a:cs typeface="IBM Plex Sans KR" pitchFamily="34" charset="-120"/>
              </a:rPr>
              <a:t>구독 콜백 (비동기)</a:t>
            </a:r>
            <a:endParaRPr lang="en-US" sz="1500" dirty="0"/>
          </a:p>
        </p:txBody>
      </p:sp>
      <p:sp>
        <p:nvSpPr>
          <p:cNvPr id="7" name="Text 5"/>
          <p:cNvSpPr/>
          <p:nvPr/>
        </p:nvSpPr>
        <p:spPr>
          <a:xfrm>
            <a:off x="1676400" y="2255441"/>
            <a:ext cx="978458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/planning/gripper_command 수신 → gripper_mapping_confirmed일 때만 set_target()</a:t>
            </a:r>
            <a:endParaRPr lang="en-US" sz="1300" dirty="0"/>
          </a:p>
        </p:txBody>
      </p:sp>
      <p:sp>
        <p:nvSpPr>
          <p:cNvPr id="8" name="Shape 6"/>
          <p:cNvSpPr/>
          <p:nvPr/>
        </p:nvSpPr>
        <p:spPr>
          <a:xfrm>
            <a:off x="812800" y="2727855"/>
            <a:ext cx="10566400" cy="802614"/>
          </a:xfrm>
          <a:prstGeom prst="roundRect">
            <a:avLst>
              <a:gd name="adj" fmla="val 12659"/>
            </a:avLst>
          </a:prstGeom>
          <a:solidFill>
            <a:srgbClr val="FDFCF9"/>
          </a:solidFill>
          <a:ln/>
        </p:spPr>
      </p:sp>
      <p:sp>
        <p:nvSpPr>
          <p:cNvPr id="9" name="Text 7"/>
          <p:cNvSpPr/>
          <p:nvPr/>
        </p:nvSpPr>
        <p:spPr>
          <a:xfrm>
            <a:off x="1016000" y="2933570"/>
            <a:ext cx="5080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3520C"/>
                </a:solidFill>
                <a:latin typeface="JetBrains Mono" pitchFamily="49" charset="0"/>
                <a:ea typeface="JetBrains Mono" pitchFamily="49" charset="-122"/>
                <a:cs typeface="JetBrains Mono" pitchFamily="49" charset="-120"/>
              </a:rPr>
              <a:t>1</a:t>
            </a:r>
            <a:endParaRPr lang="en-US" sz="2200" dirty="0"/>
          </a:p>
        </p:txBody>
      </p:sp>
      <p:sp>
        <p:nvSpPr>
          <p:cNvPr id="10" name="Text 8"/>
          <p:cNvSpPr/>
          <p:nvPr/>
        </p:nvSpPr>
        <p:spPr>
          <a:xfrm>
            <a:off x="1676400" y="2867555"/>
            <a:ext cx="978458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2836"/>
                </a:solidFill>
                <a:latin typeface="IBM Plex Sans KR" pitchFamily="34" charset="0"/>
                <a:ea typeface="IBM Plex Sans KR" pitchFamily="34" charset="-122"/>
                <a:cs typeface="IBM Plex Sans KR" pitchFamily="34" charset="-120"/>
              </a:rPr>
              <a:t>read_arm_feedback()</a:t>
            </a:r>
            <a:endParaRPr lang="en-US" sz="1500" dirty="0"/>
          </a:p>
        </p:txBody>
      </p:sp>
      <p:sp>
        <p:nvSpPr>
          <p:cNvPr id="11" name="Text 9"/>
          <p:cNvSpPr/>
          <p:nvPr/>
        </p:nvSpPr>
        <p:spPr>
          <a:xfrm>
            <a:off x="1676400" y="3159655"/>
            <a:ext cx="978458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CSV 8개 값: state, LM, 관절 4개, gripper 각도, gripper 전류</a:t>
            </a:r>
            <a:endParaRPr lang="en-US" sz="1300" dirty="0"/>
          </a:p>
        </p:txBody>
      </p:sp>
      <p:sp>
        <p:nvSpPr>
          <p:cNvPr id="12" name="Shape 10"/>
          <p:cNvSpPr/>
          <p:nvPr/>
        </p:nvSpPr>
        <p:spPr>
          <a:xfrm>
            <a:off x="812800" y="3632070"/>
            <a:ext cx="10566400" cy="802614"/>
          </a:xfrm>
          <a:prstGeom prst="roundRect">
            <a:avLst>
              <a:gd name="adj" fmla="val 12659"/>
            </a:avLst>
          </a:prstGeom>
          <a:solidFill>
            <a:srgbClr val="FDFCF9"/>
          </a:solidFill>
          <a:ln/>
        </p:spPr>
      </p:sp>
      <p:sp>
        <p:nvSpPr>
          <p:cNvPr id="13" name="Text 11"/>
          <p:cNvSpPr/>
          <p:nvPr/>
        </p:nvSpPr>
        <p:spPr>
          <a:xfrm>
            <a:off x="1016000" y="3837781"/>
            <a:ext cx="5080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3520C"/>
                </a:solidFill>
                <a:latin typeface="JetBrains Mono" pitchFamily="49" charset="0"/>
                <a:ea typeface="JetBrains Mono" pitchFamily="49" charset="-122"/>
                <a:cs typeface="JetBrains Mono" pitchFamily="49" charset="-120"/>
              </a:rPr>
              <a:t>2</a:t>
            </a:r>
            <a:endParaRPr lang="en-US" sz="2200" dirty="0"/>
          </a:p>
        </p:txBody>
      </p:sp>
      <p:sp>
        <p:nvSpPr>
          <p:cNvPr id="14" name="Text 12"/>
          <p:cNvSpPr/>
          <p:nvPr/>
        </p:nvSpPr>
        <p:spPr>
          <a:xfrm>
            <a:off x="1676400" y="3771770"/>
            <a:ext cx="978458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2836"/>
                </a:solidFill>
                <a:latin typeface="IBM Plex Sans KR" pitchFamily="34" charset="0"/>
                <a:ea typeface="IBM Plex Sans KR" pitchFamily="34" charset="-122"/>
                <a:cs typeface="IBM Plex Sans KR" pitchFamily="34" charset="-120"/>
              </a:rPr>
              <a:t>새 피드백이 있을 때만</a:t>
            </a:r>
            <a:endParaRPr lang="en-US" sz="1500" dirty="0"/>
          </a:p>
        </p:txBody>
      </p:sp>
      <p:sp>
        <p:nvSpPr>
          <p:cNvPr id="15" name="Text 13"/>
          <p:cNvSpPr/>
          <p:nvPr/>
        </p:nvSpPr>
        <p:spPr>
          <a:xfrm>
            <a:off x="1676400" y="4063870"/>
            <a:ext cx="978458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update_current_feedback(I, dt) → is_grasped()를 /gripper_grasped로 발행</a:t>
            </a:r>
            <a:endParaRPr lang="en-US" sz="1300" dirty="0"/>
          </a:p>
        </p:txBody>
      </p:sp>
      <p:sp>
        <p:nvSpPr>
          <p:cNvPr id="16" name="Shape 14"/>
          <p:cNvSpPr/>
          <p:nvPr/>
        </p:nvSpPr>
        <p:spPr>
          <a:xfrm>
            <a:off x="812800" y="4536281"/>
            <a:ext cx="10566400" cy="802614"/>
          </a:xfrm>
          <a:prstGeom prst="roundRect">
            <a:avLst>
              <a:gd name="adj" fmla="val 12659"/>
            </a:avLst>
          </a:prstGeom>
          <a:solidFill>
            <a:srgbClr val="FDFCF9"/>
          </a:solidFill>
          <a:ln/>
        </p:spPr>
      </p:sp>
      <p:sp>
        <p:nvSpPr>
          <p:cNvPr id="17" name="Text 15"/>
          <p:cNvSpPr/>
          <p:nvPr/>
        </p:nvSpPr>
        <p:spPr>
          <a:xfrm>
            <a:off x="1016000" y="4741999"/>
            <a:ext cx="50800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3520C"/>
                </a:solidFill>
                <a:latin typeface="JetBrains Mono" pitchFamily="49" charset="0"/>
                <a:ea typeface="JetBrains Mono" pitchFamily="49" charset="-122"/>
                <a:cs typeface="JetBrains Mono" pitchFamily="49" charset="-120"/>
              </a:rPr>
              <a:t>3</a:t>
            </a:r>
            <a:endParaRPr lang="en-US" sz="2200" dirty="0"/>
          </a:p>
        </p:txBody>
      </p:sp>
      <p:sp>
        <p:nvSpPr>
          <p:cNvPr id="18" name="Text 16"/>
          <p:cNvSpPr/>
          <p:nvPr/>
        </p:nvSpPr>
        <p:spPr>
          <a:xfrm>
            <a:off x="1676400" y="4675981"/>
            <a:ext cx="9784588"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E2836"/>
                </a:solidFill>
                <a:latin typeface="IBM Plex Sans KR" pitchFamily="34" charset="0"/>
                <a:ea typeface="IBM Plex Sans KR" pitchFamily="34" charset="-122"/>
                <a:cs typeface="IBM Plex Sans KR" pitchFamily="34" charset="-120"/>
              </a:rPr>
              <a:t>매 주기</a:t>
            </a:r>
            <a:endParaRPr lang="en-US" sz="1500" dirty="0"/>
          </a:p>
        </p:txBody>
      </p:sp>
      <p:sp>
        <p:nvSpPr>
          <p:cNvPr id="19" name="Text 17"/>
          <p:cNvSpPr/>
          <p:nvPr/>
        </p:nvSpPr>
        <p:spPr>
          <a:xfrm>
            <a:off x="1676400" y="4968081"/>
            <a:ext cx="9784588" cy="256514"/>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363"/>
                </a:solidFill>
                <a:latin typeface="IBM Plex Sans KR" pitchFamily="34" charset="0"/>
                <a:ea typeface="IBM Plex Sans KR" pitchFamily="34" charset="-122"/>
                <a:cs typeface="IBM Plex Sans KR" pitchFamily="34" charset="-120"/>
              </a:rPr>
              <a:t>compute_gripper_command(gripper_angle_) → arm OpenCR에 LM, 관절 4개와 함께 전송</a:t>
            </a:r>
            <a:endParaRPr lang="en-US" sz="1300" dirty="0"/>
          </a:p>
        </p:txBody>
      </p:sp>
      <p:sp>
        <p:nvSpPr>
          <p:cNvPr id="20" name="Text 18"/>
          <p:cNvSpPr/>
          <p:nvPr/>
        </p:nvSpPr>
        <p:spPr>
          <a:xfrm>
            <a:off x="812800" y="6238280"/>
            <a:ext cx="14402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4"/>
                </a:solidFill>
                <a:latin typeface="IBM Plex Sans KR" pitchFamily="34" charset="0"/>
                <a:ea typeface="IBM Plex Sans KR" pitchFamily="34" charset="-122"/>
                <a:cs typeface="IBM Plex Sans KR" pitchFamily="34" charset="-120"/>
              </a:rPr>
              <a:t>GripperController</a:t>
            </a:r>
            <a:endParaRPr lang="en-US" sz="1200" dirty="0"/>
          </a:p>
        </p:txBody>
      </p:sp>
      <p:sp>
        <p:nvSpPr>
          <p:cNvPr id="21" name="Text 19"/>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4"/>
                </a:solidFill>
                <a:latin typeface="IBM Plex Sans KR" pitchFamily="34" charset="0"/>
                <a:ea typeface="IBM Plex Sans KR" pitchFamily="34" charset="-122"/>
                <a:cs typeface="IBM Plex Sans KR"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3520C"/>
                </a:solidFill>
                <a:latin typeface="IBM Plex Sans KR" pitchFamily="34" charset="0"/>
                <a:ea typeface="IBM Plex Sans KR" pitchFamily="34" charset="-122"/>
                <a:cs typeface="IBM Plex Sans KR" pitchFamily="34" charset="-120"/>
              </a:rPr>
              <a:t>현재 상태</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1E2836"/>
                </a:solidFill>
                <a:latin typeface="IBM Plex Sans KR" pitchFamily="34" charset="0"/>
                <a:ea typeface="IBM Plex Sans KR" pitchFamily="34" charset="-122"/>
                <a:cs typeface="IBM Plex Sans KR" pitchFamily="34" charset="-120"/>
              </a:rPr>
              <a:t>코드는 준비, 하드웨어 보정 대기 중</a:t>
            </a:r>
            <a:endParaRPr lang="en-US" sz="3200" dirty="0"/>
          </a:p>
        </p:txBody>
      </p:sp>
      <p:sp>
        <p:nvSpPr>
          <p:cNvPr id="4" name="Text 2"/>
          <p:cNvSpPr/>
          <p:nvPr/>
        </p:nvSpPr>
        <p:spPr>
          <a:xfrm>
            <a:off x="812800" y="1823641"/>
            <a:ext cx="573663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E2836"/>
                </a:solidFill>
                <a:latin typeface="IBM Plex Sans KR" pitchFamily="34" charset="0"/>
                <a:ea typeface="IBM Plex Sans KR" pitchFamily="34" charset="-122"/>
                <a:cs typeface="IBM Plex Sans KR" pitchFamily="34" charset="-120"/>
              </a:rPr>
              <a:t>control.yaml 현재 값</a:t>
            </a:r>
            <a:endParaRPr lang="en-US" sz="1500" dirty="0"/>
          </a:p>
        </p:txBody>
      </p:sp>
      <p:sp>
        <p:nvSpPr>
          <p:cNvPr id="5" name="Shape 3"/>
          <p:cNvSpPr/>
          <p:nvPr/>
        </p:nvSpPr>
        <p:spPr>
          <a:xfrm>
            <a:off x="812800" y="2520619"/>
            <a:ext cx="5569545" cy="0"/>
          </a:xfrm>
          <a:prstGeom prst="line">
            <a:avLst/>
          </a:prstGeom>
          <a:noFill/>
          <a:ln w="6350">
            <a:solidFill>
              <a:srgbClr val="D9D5CB"/>
            </a:solidFill>
            <a:prstDash val="solid"/>
          </a:ln>
        </p:spPr>
      </p:sp>
      <p:sp>
        <p:nvSpPr>
          <p:cNvPr id="6" name="Text 4"/>
          <p:cNvSpPr/>
          <p:nvPr/>
        </p:nvSpPr>
        <p:spPr>
          <a:xfrm>
            <a:off x="812800" y="2230041"/>
            <a:ext cx="28742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836"/>
                </a:solidFill>
                <a:latin typeface="JetBrains Mono" pitchFamily="49" charset="0"/>
                <a:ea typeface="JetBrains Mono" pitchFamily="49" charset="-122"/>
                <a:cs typeface="JetBrains Mono" pitchFamily="49" charset="-120"/>
              </a:rPr>
              <a:t>gripper_min/max_angle</a:t>
            </a:r>
            <a:endParaRPr lang="en-US" sz="1200" dirty="0"/>
          </a:p>
        </p:txBody>
      </p:sp>
      <p:sp>
        <p:nvSpPr>
          <p:cNvPr id="7" name="Text 5"/>
          <p:cNvSpPr/>
          <p:nvPr/>
        </p:nvSpPr>
        <p:spPr>
          <a:xfrm>
            <a:off x="3704894" y="2230041"/>
            <a:ext cx="10167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2836"/>
                </a:solidFill>
                <a:latin typeface="JetBrains Mono" pitchFamily="49" charset="0"/>
                <a:ea typeface="JetBrains Mono" pitchFamily="49" charset="-122"/>
                <a:cs typeface="JetBrains Mono" pitchFamily="49" charset="-120"/>
              </a:rPr>
              <a:t>±3.14</a:t>
            </a:r>
            <a:endParaRPr lang="en-US" sz="1200" dirty="0"/>
          </a:p>
        </p:txBody>
      </p:sp>
      <p:sp>
        <p:nvSpPr>
          <p:cNvPr id="8" name="Text 6"/>
          <p:cNvSpPr/>
          <p:nvPr/>
        </p:nvSpPr>
        <p:spPr>
          <a:xfrm>
            <a:off x="4772422" y="2230041"/>
            <a:ext cx="16607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KR" pitchFamily="34" charset="0"/>
                <a:ea typeface="IBM Plex Sans KR" pitchFamily="34" charset="-122"/>
                <a:cs typeface="IBM Plex Sans KR" pitchFamily="34" charset="-120"/>
              </a:rPr>
              <a:t>임시 범위</a:t>
            </a:r>
            <a:endParaRPr lang="en-US" sz="1200" dirty="0"/>
          </a:p>
        </p:txBody>
      </p:sp>
      <p:sp>
        <p:nvSpPr>
          <p:cNvPr id="9" name="Shape 7"/>
          <p:cNvSpPr/>
          <p:nvPr/>
        </p:nvSpPr>
        <p:spPr>
          <a:xfrm>
            <a:off x="812800" y="2890575"/>
            <a:ext cx="5569545" cy="0"/>
          </a:xfrm>
          <a:prstGeom prst="line">
            <a:avLst/>
          </a:prstGeom>
          <a:noFill/>
          <a:ln w="6350">
            <a:solidFill>
              <a:srgbClr val="D9D5CB"/>
            </a:solidFill>
            <a:prstDash val="solid"/>
          </a:ln>
        </p:spPr>
      </p:sp>
      <p:sp>
        <p:nvSpPr>
          <p:cNvPr id="10" name="Text 8"/>
          <p:cNvSpPr/>
          <p:nvPr/>
        </p:nvSpPr>
        <p:spPr>
          <a:xfrm>
            <a:off x="812800" y="2599996"/>
            <a:ext cx="28742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836"/>
                </a:solidFill>
                <a:latin typeface="JetBrains Mono" pitchFamily="49" charset="0"/>
                <a:ea typeface="JetBrains Mono" pitchFamily="49" charset="-122"/>
                <a:cs typeface="JetBrains Mono" pitchFamily="49" charset="-120"/>
              </a:rPr>
              <a:t>gripper_open/close_angle</a:t>
            </a:r>
            <a:endParaRPr lang="en-US" sz="1200" dirty="0"/>
          </a:p>
        </p:txBody>
      </p:sp>
      <p:sp>
        <p:nvSpPr>
          <p:cNvPr id="11" name="Text 9"/>
          <p:cNvSpPr/>
          <p:nvPr/>
        </p:nvSpPr>
        <p:spPr>
          <a:xfrm>
            <a:off x="3704894" y="2599996"/>
            <a:ext cx="10167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2836"/>
                </a:solidFill>
                <a:latin typeface="JetBrains Mono" pitchFamily="49" charset="0"/>
                <a:ea typeface="JetBrains Mono" pitchFamily="49" charset="-122"/>
                <a:cs typeface="JetBrains Mono" pitchFamily="49" charset="-120"/>
              </a:rPr>
              <a:t>0 / 0</a:t>
            </a:r>
            <a:endParaRPr lang="en-US" sz="1200" dirty="0"/>
          </a:p>
        </p:txBody>
      </p:sp>
      <p:sp>
        <p:nvSpPr>
          <p:cNvPr id="12" name="Text 10"/>
          <p:cNvSpPr/>
          <p:nvPr/>
        </p:nvSpPr>
        <p:spPr>
          <a:xfrm>
            <a:off x="4772422" y="2599996"/>
            <a:ext cx="16607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KR" pitchFamily="34" charset="0"/>
                <a:ea typeface="IBM Plex Sans KR" pitchFamily="34" charset="-122"/>
                <a:cs typeface="IBM Plex Sans KR" pitchFamily="34" charset="-120"/>
              </a:rPr>
              <a:t>미측정</a:t>
            </a:r>
            <a:endParaRPr lang="en-US" sz="1200" dirty="0"/>
          </a:p>
        </p:txBody>
      </p:sp>
      <p:sp>
        <p:nvSpPr>
          <p:cNvPr id="13" name="Shape 11"/>
          <p:cNvSpPr/>
          <p:nvPr/>
        </p:nvSpPr>
        <p:spPr>
          <a:xfrm>
            <a:off x="812800" y="3260531"/>
            <a:ext cx="5569545" cy="0"/>
          </a:xfrm>
          <a:prstGeom prst="line">
            <a:avLst/>
          </a:prstGeom>
          <a:noFill/>
          <a:ln w="6350">
            <a:solidFill>
              <a:srgbClr val="D9D5CB"/>
            </a:solidFill>
            <a:prstDash val="solid"/>
          </a:ln>
        </p:spPr>
      </p:sp>
      <p:sp>
        <p:nvSpPr>
          <p:cNvPr id="14" name="Text 12"/>
          <p:cNvSpPr/>
          <p:nvPr/>
        </p:nvSpPr>
        <p:spPr>
          <a:xfrm>
            <a:off x="812800" y="2969952"/>
            <a:ext cx="28742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836"/>
                </a:solidFill>
                <a:latin typeface="JetBrains Mono" pitchFamily="49" charset="0"/>
                <a:ea typeface="JetBrains Mono" pitchFamily="49" charset="-122"/>
                <a:cs typeface="JetBrains Mono" pitchFamily="49" charset="-120"/>
              </a:rPr>
              <a:t>gripper_mapping_confirmed</a:t>
            </a:r>
            <a:endParaRPr lang="en-US" sz="1200" dirty="0"/>
          </a:p>
        </p:txBody>
      </p:sp>
      <p:sp>
        <p:nvSpPr>
          <p:cNvPr id="15" name="Text 13"/>
          <p:cNvSpPr/>
          <p:nvPr/>
        </p:nvSpPr>
        <p:spPr>
          <a:xfrm>
            <a:off x="3704894" y="2969952"/>
            <a:ext cx="10167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2836"/>
                </a:solidFill>
                <a:latin typeface="JetBrains Mono" pitchFamily="49" charset="0"/>
                <a:ea typeface="JetBrains Mono" pitchFamily="49" charset="-122"/>
                <a:cs typeface="JetBrains Mono" pitchFamily="49" charset="-120"/>
              </a:rPr>
              <a:t>false</a:t>
            </a:r>
            <a:endParaRPr lang="en-US" sz="1200" dirty="0"/>
          </a:p>
        </p:txBody>
      </p:sp>
      <p:sp>
        <p:nvSpPr>
          <p:cNvPr id="16" name="Text 14"/>
          <p:cNvSpPr/>
          <p:nvPr/>
        </p:nvSpPr>
        <p:spPr>
          <a:xfrm>
            <a:off x="4772422" y="2969952"/>
            <a:ext cx="16607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KR" pitchFamily="34" charset="0"/>
                <a:ea typeface="IBM Plex Sans KR" pitchFamily="34" charset="-122"/>
                <a:cs typeface="IBM Plex Sans KR" pitchFamily="34" charset="-120"/>
              </a:rPr>
              <a:t>명령 무시</a:t>
            </a:r>
            <a:endParaRPr lang="en-US" sz="1200" dirty="0"/>
          </a:p>
        </p:txBody>
      </p:sp>
      <p:sp>
        <p:nvSpPr>
          <p:cNvPr id="17" name="Shape 15"/>
          <p:cNvSpPr/>
          <p:nvPr/>
        </p:nvSpPr>
        <p:spPr>
          <a:xfrm>
            <a:off x="812800" y="3630480"/>
            <a:ext cx="5569545" cy="0"/>
          </a:xfrm>
          <a:prstGeom prst="line">
            <a:avLst/>
          </a:prstGeom>
          <a:noFill/>
          <a:ln w="6350">
            <a:solidFill>
              <a:srgbClr val="D9D5CB"/>
            </a:solidFill>
            <a:prstDash val="solid"/>
          </a:ln>
        </p:spPr>
      </p:sp>
      <p:sp>
        <p:nvSpPr>
          <p:cNvPr id="18" name="Text 16"/>
          <p:cNvSpPr/>
          <p:nvPr/>
        </p:nvSpPr>
        <p:spPr>
          <a:xfrm>
            <a:off x="812800" y="3339902"/>
            <a:ext cx="28742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836"/>
                </a:solidFill>
                <a:latin typeface="JetBrains Mono" pitchFamily="49" charset="0"/>
                <a:ea typeface="JetBrains Mono" pitchFamily="49" charset="-122"/>
                <a:cs typeface="JetBrains Mono" pitchFamily="49" charset="-120"/>
              </a:rPr>
              <a:t>grasp_current_threshold_a</a:t>
            </a:r>
            <a:endParaRPr lang="en-US" sz="1200" dirty="0"/>
          </a:p>
        </p:txBody>
      </p:sp>
      <p:sp>
        <p:nvSpPr>
          <p:cNvPr id="19" name="Text 17"/>
          <p:cNvSpPr/>
          <p:nvPr/>
        </p:nvSpPr>
        <p:spPr>
          <a:xfrm>
            <a:off x="3704894" y="3339902"/>
            <a:ext cx="10167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2836"/>
                </a:solidFill>
                <a:latin typeface="JetBrains Mono" pitchFamily="49" charset="0"/>
                <a:ea typeface="JetBrains Mono" pitchFamily="49" charset="-122"/>
                <a:cs typeface="JetBrains Mono" pitchFamily="49" charset="-120"/>
              </a:rPr>
              <a:t>0.0</a:t>
            </a:r>
            <a:endParaRPr lang="en-US" sz="1200" dirty="0"/>
          </a:p>
        </p:txBody>
      </p:sp>
      <p:sp>
        <p:nvSpPr>
          <p:cNvPr id="20" name="Text 18"/>
          <p:cNvSpPr/>
          <p:nvPr/>
        </p:nvSpPr>
        <p:spPr>
          <a:xfrm>
            <a:off x="4772422" y="3339902"/>
            <a:ext cx="16607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KR" pitchFamily="34" charset="0"/>
                <a:ea typeface="IBM Plex Sans KR" pitchFamily="34" charset="-122"/>
                <a:cs typeface="IBM Plex Sans KR" pitchFamily="34" charset="-120"/>
              </a:rPr>
              <a:t>감지 비활성</a:t>
            </a:r>
            <a:endParaRPr lang="en-US" sz="1200" dirty="0"/>
          </a:p>
        </p:txBody>
      </p:sp>
      <p:sp>
        <p:nvSpPr>
          <p:cNvPr id="21" name="Shape 19"/>
          <p:cNvSpPr/>
          <p:nvPr/>
        </p:nvSpPr>
        <p:spPr>
          <a:xfrm>
            <a:off x="812800" y="4000436"/>
            <a:ext cx="5569545" cy="0"/>
          </a:xfrm>
          <a:prstGeom prst="line">
            <a:avLst/>
          </a:prstGeom>
          <a:noFill/>
          <a:ln w="6350">
            <a:solidFill>
              <a:srgbClr val="D9D5CB"/>
            </a:solidFill>
            <a:prstDash val="solid"/>
          </a:ln>
        </p:spPr>
      </p:sp>
      <p:sp>
        <p:nvSpPr>
          <p:cNvPr id="22" name="Text 20"/>
          <p:cNvSpPr/>
          <p:nvPr/>
        </p:nvSpPr>
        <p:spPr>
          <a:xfrm>
            <a:off x="812800" y="3709857"/>
            <a:ext cx="287420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E2836"/>
                </a:solidFill>
                <a:latin typeface="JetBrains Mono" pitchFamily="49" charset="0"/>
                <a:ea typeface="JetBrains Mono" pitchFamily="49" charset="-122"/>
                <a:cs typeface="JetBrains Mono" pitchFamily="49" charset="-120"/>
              </a:rPr>
              <a:t>grasp_current_debounce</a:t>
            </a:r>
            <a:endParaRPr lang="en-US" sz="1200" dirty="0"/>
          </a:p>
        </p:txBody>
      </p:sp>
      <p:sp>
        <p:nvSpPr>
          <p:cNvPr id="23" name="Text 21"/>
          <p:cNvSpPr/>
          <p:nvPr/>
        </p:nvSpPr>
        <p:spPr>
          <a:xfrm>
            <a:off x="3704894" y="3709857"/>
            <a:ext cx="1016728"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2836"/>
                </a:solidFill>
                <a:latin typeface="JetBrains Mono" pitchFamily="49" charset="0"/>
                <a:ea typeface="JetBrains Mono" pitchFamily="49" charset="-122"/>
                <a:cs typeface="JetBrains Mono" pitchFamily="49" charset="-120"/>
              </a:rPr>
              <a:t>0.0</a:t>
            </a:r>
            <a:endParaRPr lang="en-US" sz="1200" dirty="0"/>
          </a:p>
        </p:txBody>
      </p:sp>
      <p:sp>
        <p:nvSpPr>
          <p:cNvPr id="24" name="Text 22"/>
          <p:cNvSpPr/>
          <p:nvPr/>
        </p:nvSpPr>
        <p:spPr>
          <a:xfrm>
            <a:off x="4772422" y="3709857"/>
            <a:ext cx="16607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363"/>
                </a:solidFill>
                <a:latin typeface="IBM Plex Sans KR" pitchFamily="34" charset="0"/>
                <a:ea typeface="IBM Plex Sans KR" pitchFamily="34" charset="-122"/>
                <a:cs typeface="IBM Plex Sans KR" pitchFamily="34" charset="-120"/>
              </a:rPr>
              <a:t>감지 비활성</a:t>
            </a:r>
            <a:endParaRPr lang="en-US" sz="1200" dirty="0"/>
          </a:p>
        </p:txBody>
      </p:sp>
      <p:sp>
        <p:nvSpPr>
          <p:cNvPr id="25" name="Text 23"/>
          <p:cNvSpPr/>
          <p:nvPr/>
        </p:nvSpPr>
        <p:spPr>
          <a:xfrm>
            <a:off x="6737945" y="1823641"/>
            <a:ext cx="4780492"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A3520C"/>
                </a:solidFill>
                <a:latin typeface="IBM Plex Sans KR" pitchFamily="34" charset="0"/>
                <a:ea typeface="IBM Plex Sans KR" pitchFamily="34" charset="-122"/>
                <a:cs typeface="IBM Plex Sans KR" pitchFamily="34" charset="-120"/>
              </a:rPr>
              <a:t>확인할 점</a:t>
            </a:r>
            <a:endParaRPr lang="en-US" sz="1500" dirty="0"/>
          </a:p>
        </p:txBody>
      </p:sp>
      <p:sp>
        <p:nvSpPr>
          <p:cNvPr id="26" name="Text 24"/>
          <p:cNvSpPr/>
          <p:nvPr/>
        </p:nvSpPr>
        <p:spPr>
          <a:xfrm>
            <a:off x="6823289" y="2153841"/>
            <a:ext cx="4687528" cy="1461691"/>
          </a:xfrm>
          <a:prstGeom prst="rect">
            <a:avLst/>
          </a:prstGeom>
          <a:noFill/>
          <a:ln/>
        </p:spPr>
        <p:txBody>
          <a:bodyPr wrap="square" lIns="0" tIns="0" rIns="0" bIns="0" rtlCol="0" anchor="t">
            <a:normAutofit/>
          </a:bodyPr>
          <a:lstStyle/>
          <a:p>
            <a:pPr algn="l" marL="168656" indent="-168656">
              <a:lnSpc>
                <a:spcPts val="1885"/>
              </a:lnSpc>
              <a:buSzPct val="100000"/>
              <a:buChar char="•"/>
            </a:pPr>
            <a:r>
              <a:rPr lang="en-US" sz="1300" dirty="0">
                <a:solidFill>
                  <a:srgbClr val="4A5363"/>
                </a:solidFill>
                <a:latin typeface="IBM Plex Sans KR" pitchFamily="34" charset="0"/>
                <a:ea typeface="IBM Plex Sans KR" pitchFamily="34" charset="-122"/>
                <a:cs typeface="IBM Plex Sans KR" pitchFamily="34" charset="-120"/>
              </a:rPr>
              <a:t>arm 피드백은 정확히 8개 값이어야 함. 펌웨어가 전류를 아직 안 보내면 피드백 전체가 거부됨</a:t>
            </a:r>
            <a:endParaRPr lang="en-US" sz="1300" dirty="0"/>
          </a:p>
          <a:p>
            <a:pPr algn="l" marL="168656" indent="-168656">
              <a:lnSpc>
                <a:spcPts val="1885"/>
              </a:lnSpc>
              <a:buSzPct val="100000"/>
              <a:buChar char="•"/>
            </a:pPr>
            <a:r>
              <a:rPr lang="en-US" sz="1300" dirty="0">
                <a:solidFill>
                  <a:srgbClr val="4A5363"/>
                </a:solidFill>
                <a:latin typeface="IBM Plex Sans KR" pitchFamily="34" charset="0"/>
                <a:ea typeface="IBM Plex Sans KR" pitchFamily="34" charset="-122"/>
                <a:cs typeface="IBM Plex Sans KR" pitchFamily="34" charset="-120"/>
              </a:rPr>
              <a:t>dt는 루프 주기 기준. 피드백이 매 주기 오지 않으면 과전류 시간이 짧게 누적됨</a:t>
            </a:r>
            <a:endParaRPr lang="en-US" sz="1300" dirty="0"/>
          </a:p>
          <a:p>
            <a:pPr algn="l" marL="168656" indent="-168656">
              <a:lnSpc>
                <a:spcPts val="1885"/>
              </a:lnSpc>
              <a:buSzPct val="100000"/>
              <a:buChar char="•"/>
            </a:pPr>
            <a:r>
              <a:rPr lang="en-US" sz="1300" dirty="0">
                <a:solidFill>
                  <a:srgbClr val="4A5363"/>
                </a:solidFill>
                <a:latin typeface="IBM Plex Sans KR" pitchFamily="34" charset="0"/>
                <a:ea typeface="IBM Plex Sans KR" pitchFamily="34" charset="-122"/>
                <a:cs typeface="IBM Plex Sans KR" pitchFamily="34" charset="-120"/>
              </a:rPr>
              <a:t>GripperController 단위 테스트 없음</a:t>
            </a:r>
            <a:endParaRPr lang="en-US" sz="1300" dirty="0"/>
          </a:p>
          <a:p>
            <a:pPr algn="l" marL="168656" indent="-168656">
              <a:lnSpc>
                <a:spcPts val="1885"/>
              </a:lnSpc>
              <a:buSzPct val="100000"/>
              <a:buChar char="•"/>
            </a:pPr>
            <a:r>
              <a:rPr lang="en-US" sz="1300" dirty="0">
                <a:solidFill>
                  <a:srgbClr val="4A5363"/>
                </a:solidFill>
                <a:latin typeface="IBM Plex Sans KR" pitchFamily="34" charset="0"/>
                <a:ea typeface="IBM Plex Sans KR" pitchFamily="34" charset="-122"/>
                <a:cs typeface="IBM Plex Sans KR" pitchFamily="34" charset="-120"/>
              </a:rPr>
              <a:t>is_target_reached() 미사용</a:t>
            </a:r>
            <a:endParaRPr lang="en-US" sz="1300" dirty="0"/>
          </a:p>
        </p:txBody>
      </p:sp>
      <p:sp>
        <p:nvSpPr>
          <p:cNvPr id="27" name="Text 25"/>
          <p:cNvSpPr/>
          <p:nvPr/>
        </p:nvSpPr>
        <p:spPr>
          <a:xfrm>
            <a:off x="812800" y="6238280"/>
            <a:ext cx="14402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F6774"/>
                </a:solidFill>
                <a:latin typeface="IBM Plex Sans KR" pitchFamily="34" charset="0"/>
                <a:ea typeface="IBM Plex Sans KR" pitchFamily="34" charset="-122"/>
                <a:cs typeface="IBM Plex Sans KR" pitchFamily="34" charset="-120"/>
              </a:rPr>
              <a:t>GripperController</a:t>
            </a:r>
            <a:endParaRPr lang="en-US" sz="1200" dirty="0"/>
          </a:p>
        </p:txBody>
      </p:sp>
      <p:sp>
        <p:nvSpPr>
          <p:cNvPr id="28" name="Text 26"/>
          <p:cNvSpPr/>
          <p:nvPr/>
        </p:nvSpPr>
        <p:spPr>
          <a:xfrm>
            <a:off x="11236920" y="6238280"/>
            <a:ext cx="14228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F6774"/>
                </a:solidFill>
                <a:latin typeface="IBM Plex Sans KR" pitchFamily="34" charset="0"/>
                <a:ea typeface="IBM Plex Sans KR" pitchFamily="34" charset="-122"/>
                <a:cs typeface="IBM Plex Sans KR"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202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0A35E"/>
                </a:solidFill>
                <a:latin typeface="IBM Plex Sans KR" pitchFamily="34" charset="0"/>
                <a:ea typeface="IBM Plex Sans KR" pitchFamily="34" charset="-122"/>
                <a:cs typeface="IBM Plex Sans KR" pitchFamily="34" charset="-120"/>
              </a:rPr>
              <a:t>정리</a:t>
            </a:r>
            <a:endParaRPr lang="en-US" sz="1200" dirty="0"/>
          </a:p>
        </p:txBody>
      </p:sp>
      <p:sp>
        <p:nvSpPr>
          <p:cNvPr id="3" name="Text 1"/>
          <p:cNvSpPr/>
          <p:nvPr>
            <p:ph type="title"/>
          </p:nvPr>
        </p:nvSpPr>
        <p:spPr>
          <a:xfrm>
            <a:off x="812800" y="1102320"/>
            <a:ext cx="10883392" cy="492720"/>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4F2EC"/>
                </a:solidFill>
                <a:latin typeface="IBM Plex Sans KR" pitchFamily="34" charset="0"/>
                <a:ea typeface="IBM Plex Sans KR" pitchFamily="34" charset="-122"/>
                <a:cs typeface="IBM Plex Sans KR" pitchFamily="34" charset="-120"/>
              </a:rPr>
              <a:t>작지만 안전하게 설계된 제어기</a:t>
            </a:r>
            <a:endParaRPr lang="en-US" sz="3200" dirty="0"/>
          </a:p>
        </p:txBody>
      </p:sp>
      <p:sp>
        <p:nvSpPr>
          <p:cNvPr id="4" name="Shape 2"/>
          <p:cNvSpPr/>
          <p:nvPr/>
        </p:nvSpPr>
        <p:spPr>
          <a:xfrm>
            <a:off x="812800" y="2735597"/>
            <a:ext cx="3352800" cy="0"/>
          </a:xfrm>
          <a:prstGeom prst="line">
            <a:avLst/>
          </a:prstGeom>
          <a:noFill/>
          <a:ln w="25400">
            <a:solidFill>
              <a:srgbClr val="F0A35E"/>
            </a:solidFill>
            <a:prstDash val="solid"/>
          </a:ln>
        </p:spPr>
      </p:sp>
      <p:sp>
        <p:nvSpPr>
          <p:cNvPr id="5" name="Text 3"/>
          <p:cNvSpPr/>
          <p:nvPr/>
        </p:nvSpPr>
        <p:spPr>
          <a:xfrm>
            <a:off x="812800" y="2926097"/>
            <a:ext cx="345338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2EC"/>
                </a:solidFill>
                <a:latin typeface="IBM Plex Sans KR" pitchFamily="34" charset="0"/>
                <a:ea typeface="IBM Plex Sans KR" pitchFamily="34" charset="-122"/>
                <a:cs typeface="IBM Plex Sans KR" pitchFamily="34" charset="-120"/>
              </a:rPr>
              <a:t>검증 우선</a:t>
            </a:r>
            <a:endParaRPr lang="en-US" sz="1800" dirty="0"/>
          </a:p>
        </p:txBody>
      </p:sp>
      <p:sp>
        <p:nvSpPr>
          <p:cNvPr id="6" name="Text 4"/>
          <p:cNvSpPr/>
          <p:nvPr/>
        </p:nvSpPr>
        <p:spPr>
          <a:xfrm>
            <a:off x="812800" y="3302000"/>
            <a:ext cx="3453384"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9D2DE"/>
                </a:solidFill>
                <a:latin typeface="IBM Plex Sans KR" pitchFamily="34" charset="0"/>
                <a:ea typeface="IBM Plex Sans KR" pitchFamily="34" charset="-122"/>
                <a:cs typeface="IBM Plex Sans KR" pitchFamily="34" charset="-120"/>
              </a:rPr>
              <a:t>잘못된 설정은 노드 기동 단계에서 차단</a:t>
            </a:r>
            <a:endParaRPr lang="en-US" sz="1400" dirty="0"/>
          </a:p>
        </p:txBody>
      </p:sp>
      <p:sp>
        <p:nvSpPr>
          <p:cNvPr id="7" name="Shape 5"/>
          <p:cNvSpPr/>
          <p:nvPr/>
        </p:nvSpPr>
        <p:spPr>
          <a:xfrm>
            <a:off x="4419600" y="2735597"/>
            <a:ext cx="3352800" cy="0"/>
          </a:xfrm>
          <a:prstGeom prst="line">
            <a:avLst/>
          </a:prstGeom>
          <a:noFill/>
          <a:ln w="25400">
            <a:solidFill>
              <a:srgbClr val="F0A35E"/>
            </a:solidFill>
            <a:prstDash val="solid"/>
          </a:ln>
        </p:spPr>
      </p:sp>
      <p:sp>
        <p:nvSpPr>
          <p:cNvPr id="8" name="Text 6"/>
          <p:cNvSpPr/>
          <p:nvPr/>
        </p:nvSpPr>
        <p:spPr>
          <a:xfrm>
            <a:off x="4419600" y="2926097"/>
            <a:ext cx="345338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2EC"/>
                </a:solidFill>
                <a:latin typeface="IBM Plex Sans KR" pitchFamily="34" charset="0"/>
                <a:ea typeface="IBM Plex Sans KR" pitchFamily="34" charset="-122"/>
                <a:cs typeface="IBM Plex Sans KR" pitchFamily="34" charset="-120"/>
              </a:rPr>
              <a:t>안전한 기본값</a:t>
            </a:r>
            <a:endParaRPr lang="en-US" sz="1800" dirty="0"/>
          </a:p>
        </p:txBody>
      </p:sp>
      <p:sp>
        <p:nvSpPr>
          <p:cNvPr id="9" name="Text 7"/>
          <p:cNvSpPr/>
          <p:nvPr/>
        </p:nvSpPr>
        <p:spPr>
          <a:xfrm>
            <a:off x="4419600" y="3302000"/>
            <a:ext cx="3453384" cy="5588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9D2DE"/>
                </a:solidFill>
                <a:latin typeface="IBM Plex Sans KR" pitchFamily="34" charset="0"/>
                <a:ea typeface="IBM Plex Sans KR" pitchFamily="34" charset="-122"/>
                <a:cs typeface="IBM Plex Sans KR" pitchFamily="34" charset="-120"/>
              </a:rPr>
              <a:t>모르면 현재 위치 유지, 항상 범위 안으로 clamp</a:t>
            </a:r>
            <a:endParaRPr lang="en-US" sz="1400" dirty="0"/>
          </a:p>
        </p:txBody>
      </p:sp>
      <p:sp>
        <p:nvSpPr>
          <p:cNvPr id="10" name="Shape 8"/>
          <p:cNvSpPr/>
          <p:nvPr/>
        </p:nvSpPr>
        <p:spPr>
          <a:xfrm>
            <a:off x="8026400" y="2735597"/>
            <a:ext cx="3352800" cy="0"/>
          </a:xfrm>
          <a:prstGeom prst="line">
            <a:avLst/>
          </a:prstGeom>
          <a:noFill/>
          <a:ln w="25400">
            <a:solidFill>
              <a:srgbClr val="F0A35E"/>
            </a:solidFill>
            <a:prstDash val="solid"/>
          </a:ln>
        </p:spPr>
      </p:sp>
      <p:sp>
        <p:nvSpPr>
          <p:cNvPr id="11" name="Text 9"/>
          <p:cNvSpPr/>
          <p:nvPr/>
        </p:nvSpPr>
        <p:spPr>
          <a:xfrm>
            <a:off x="8026400" y="2926097"/>
            <a:ext cx="3453384" cy="299707"/>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4F2EC"/>
                </a:solidFill>
                <a:latin typeface="IBM Plex Sans KR" pitchFamily="34" charset="0"/>
                <a:ea typeface="IBM Plex Sans KR" pitchFamily="34" charset="-122"/>
                <a:cs typeface="IBM Plex Sans KR" pitchFamily="34" charset="-120"/>
              </a:rPr>
              <a:t>노이즈에 강한 감지</a:t>
            </a:r>
            <a:endParaRPr lang="en-US" sz="1800" dirty="0"/>
          </a:p>
        </p:txBody>
      </p:sp>
      <p:sp>
        <p:nvSpPr>
          <p:cNvPr id="12" name="Text 10"/>
          <p:cNvSpPr/>
          <p:nvPr/>
        </p:nvSpPr>
        <p:spPr>
          <a:xfrm>
            <a:off x="8026400" y="3302000"/>
            <a:ext cx="3453384" cy="292100"/>
          </a:xfrm>
          <a:prstGeom prst="rect">
            <a:avLst/>
          </a:prstGeom>
          <a:noFill/>
          <a:ln/>
        </p:spPr>
        <p:txBody>
          <a:bodyPr wrap="square" lIns="0" tIns="0" rIns="0" bIns="0" rtlCol="0" anchor="t">
            <a:normAutofit/>
          </a:bodyPr>
          <a:lstStyle/>
          <a:p>
            <a:pPr algn="l" indent="0" marL="0">
              <a:lnSpc>
                <a:spcPts val="2100"/>
              </a:lnSpc>
              <a:buNone/>
            </a:pPr>
            <a:r>
              <a:rPr lang="en-US" sz="1400" dirty="0">
                <a:solidFill>
                  <a:srgbClr val="C9D2DE"/>
                </a:solidFill>
                <a:latin typeface="IBM Plex Sans KR" pitchFamily="34" charset="0"/>
                <a:ea typeface="IBM Plex Sans KR" pitchFamily="34" charset="-122"/>
                <a:cs typeface="IBM Plex Sans KR" pitchFamily="34" charset="-120"/>
              </a:rPr>
              <a:t>과전류 지속 시간으로 파지 판정</a:t>
            </a:r>
            <a:endParaRPr lang="en-US" sz="1400" dirty="0"/>
          </a:p>
        </p:txBody>
      </p:sp>
      <p:sp>
        <p:nvSpPr>
          <p:cNvPr id="13" name="Text 11"/>
          <p:cNvSpPr/>
          <p:nvPr/>
        </p:nvSpPr>
        <p:spPr>
          <a:xfrm>
            <a:off x="812800" y="4988589"/>
            <a:ext cx="10883392" cy="878814"/>
          </a:xfrm>
          <a:prstGeom prst="rect">
            <a:avLst/>
          </a:prstGeom>
          <a:noFill/>
          <a:ln/>
        </p:spPr>
        <p:txBody>
          <a:bodyPr wrap="square" lIns="0" tIns="0" rIns="0" bIns="0" rtlCol="0" anchor="t">
            <a:normAutofit/>
          </a:bodyPr>
          <a:lstStyle/>
          <a:p>
            <a:pPr algn="l" indent="0" marL="0">
              <a:lnSpc>
                <a:spcPts val="6720"/>
              </a:lnSpc>
              <a:buNone/>
            </a:pPr>
            <a:r>
              <a:rPr lang="en-US" sz="4800" b="1" dirty="0">
                <a:solidFill>
                  <a:srgbClr val="F0A35E"/>
                </a:solidFill>
                <a:latin typeface="IBM Plex Sans KR" pitchFamily="34" charset="0"/>
                <a:ea typeface="IBM Plex Sans KR" pitchFamily="34" charset="-122"/>
                <a:cs typeface="IBM Plex Sans KR" pitchFamily="34" charset="-120"/>
              </a:rPr>
              <a:t>Q&amp;A</a:t>
            </a:r>
            <a:endParaRPr lang="en-US" sz="4800" dirty="0"/>
          </a:p>
        </p:txBody>
      </p:sp>
      <p:sp>
        <p:nvSpPr>
          <p:cNvPr id="14" name="Text 12"/>
          <p:cNvSpPr/>
          <p:nvPr/>
        </p:nvSpPr>
        <p:spPr>
          <a:xfrm>
            <a:off x="812800" y="6238280"/>
            <a:ext cx="14402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8BA"/>
                </a:solidFill>
                <a:latin typeface="IBM Plex Sans KR" pitchFamily="34" charset="0"/>
                <a:ea typeface="IBM Plex Sans KR" pitchFamily="34" charset="-122"/>
                <a:cs typeface="IBM Plex Sans KR" pitchFamily="34" charset="-120"/>
              </a:rPr>
              <a:t>GripperController</a:t>
            </a:r>
            <a:endParaRPr lang="en-US" sz="1200" dirty="0"/>
          </a:p>
        </p:txBody>
      </p:sp>
      <p:sp>
        <p:nvSpPr>
          <p:cNvPr id="15" name="Text 13"/>
          <p:cNvSpPr/>
          <p:nvPr/>
        </p:nvSpPr>
        <p:spPr>
          <a:xfrm>
            <a:off x="11145507" y="6238280"/>
            <a:ext cx="233693"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9AA8BA"/>
                </a:solidFill>
                <a:latin typeface="IBM Plex Sans KR" pitchFamily="34" charset="0"/>
                <a:ea typeface="IBM Plex Sans KR" pitchFamily="34" charset="-122"/>
                <a:cs typeface="IBM Plex Sans KR" pitchFamily="34" charset="-120"/>
              </a:rPr>
              <a:t>10</a:t>
            </a:r>
            <a:endParaRPr lang="en-US" sz="1200" dirty="0"/>
          </a:p>
        </p:txBody>
      </p:sp>
    </p:spTree>
  </p:cSld>
  <p:clrMapOvr>
    <a:masterClrMapping/>
  </p:clrMapOvr>
</p:sld>
</file>

<file path=ppt/theme/theme1.xml><?xml version="1.0" encoding="utf-8"?>
<a:theme xmlns:a="http://schemas.openxmlformats.org/drawingml/2006/main" name="GripperController 발표">
  <a:themeElements>
    <a:clrScheme name="GripperController 발표">
      <a:dk1>
        <a:srgbClr val="1E2836"/>
      </a:dk1>
      <a:lt1>
        <a:srgbClr val="F4F2EC"/>
      </a:lt1>
      <a:dk2>
        <a:srgbClr val="545B64"/>
      </a:dk2>
      <a:lt2>
        <a:srgbClr val="DFDEDA"/>
      </a:lt2>
      <a:accent1>
        <a:srgbClr val="A3520C"/>
      </a:accent1>
      <a:accent2>
        <a:srgbClr val="F0A35E"/>
      </a:accent2>
      <a:accent3>
        <a:srgbClr val="2B5FB8"/>
      </a:accent3>
      <a:accent4>
        <a:srgbClr val="4A5363"/>
      </a:accent4>
      <a:accent5>
        <a:srgbClr val="5F6774"/>
      </a:accent5>
      <a:accent6>
        <a:srgbClr val="C9D2DE"/>
      </a:accent6>
      <a:hlink>
        <a:srgbClr val="0563C1"/>
      </a:hlink>
      <a:folHlink>
        <a:srgbClr val="954F72"/>
      </a:folHlink>
    </a:clrScheme>
    <a:fontScheme name="GripperController 발표">
      <a:majorFont>
        <a:latin typeface="IBM Plex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GripperController 발표</dc:title>
  <dc:subject/>
  <dc:creator/>
  <cp:lastModifiedBy/>
  <cp:revision>1</cp:revision>
  <dcterms:created xsi:type="dcterms:W3CDTF">2026-10-18T14:36:05Z</dcterms:created>
  <dcterms:modified xsi:type="dcterms:W3CDTF">2026-10-18T14:36:05Z</dcterms:modified>
</cp:coreProperties>
</file>